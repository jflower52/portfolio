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87" r:id="rId3"/>
    <p:sldId id="286" r:id="rId4"/>
    <p:sldId id="295" r:id="rId5"/>
    <p:sldId id="303" r:id="rId6"/>
    <p:sldId id="296" r:id="rId7"/>
    <p:sldId id="306" r:id="rId8"/>
    <p:sldId id="305" r:id="rId9"/>
    <p:sldId id="308" r:id="rId10"/>
    <p:sldId id="307" r:id="rId11"/>
    <p:sldId id="293" r:id="rId12"/>
    <p:sldId id="294" r:id="rId13"/>
    <p:sldId id="310" r:id="rId14"/>
    <p:sldId id="291" r:id="rId15"/>
    <p:sldId id="326" r:id="rId16"/>
    <p:sldId id="288" r:id="rId17"/>
    <p:sldId id="311" r:id="rId18"/>
    <p:sldId id="312" r:id="rId19"/>
    <p:sldId id="315" r:id="rId20"/>
    <p:sldId id="316" r:id="rId21"/>
    <p:sldId id="317" r:id="rId22"/>
    <p:sldId id="318" r:id="rId23"/>
    <p:sldId id="319" r:id="rId24"/>
    <p:sldId id="320" r:id="rId25"/>
    <p:sldId id="292" r:id="rId26"/>
    <p:sldId id="309" r:id="rId27"/>
    <p:sldId id="324" r:id="rId28"/>
    <p:sldId id="323" r:id="rId29"/>
    <p:sldId id="321" r:id="rId30"/>
    <p:sldId id="325" r:id="rId31"/>
    <p:sldId id="322" r:id="rId32"/>
    <p:sldId id="289" r:id="rId33"/>
    <p:sldId id="290" r:id="rId3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A8F5A"/>
    <a:srgbClr val="E5D5C1"/>
    <a:srgbClr val="FFFF99"/>
    <a:srgbClr val="A63095"/>
    <a:srgbClr val="5D3525"/>
    <a:srgbClr val="BE775A"/>
    <a:srgbClr val="F1E9DF"/>
    <a:srgbClr val="EFDCD5"/>
    <a:srgbClr val="ECD5CC"/>
    <a:srgbClr val="E6C8B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6CFDD1-B3B1-9C94-F34D-6C8F288CFB87}" v="334" dt="2025-07-02T07:19:32.144"/>
    <p1510:client id="{838EC8CF-9809-1C6E-5167-0376537AEEDF}" v="341" dt="2025-07-02T05:29:59.524"/>
    <p1510:client id="{8BF04A68-98B8-839A-860F-B0D0DA713F55}" v="1308" dt="2025-07-02T06:47:30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71" autoAdjust="0"/>
    <p:restoredTop sz="86617" autoAdjust="0"/>
  </p:normalViewPr>
  <p:slideViewPr>
    <p:cSldViewPr snapToGrid="0">
      <p:cViewPr varScale="1">
        <p:scale>
          <a:sx n="72" d="100"/>
          <a:sy n="72" d="100"/>
        </p:scale>
        <p:origin x="90" y="56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49F4B1-B3D5-4B94-A3A4-74ED1A560E52}" type="datetimeFigureOut">
              <a:t>2025-07-23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70137B-041D-4A5D-9B03-445135B01CD6}" type="slidenum"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219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134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8496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4111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68588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소도시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테마별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빵지순례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코스 제공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지역별 대표 빵집을 잇는 스탬프 투어 코스를 기획해 사용자의 빵 탐방 동기를 높입니다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계절별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테마별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전통빵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디저트 전문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가족 나들이 등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다양하게 코스를 제공하여 색다른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빵지순례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경험을 선사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endParaRPr lang="en-US" altLang="ko-KR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신메뉴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출시 연계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지역 상생 캠페인 진행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여러 빵집이 함께 참여하는 공동 할인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신메뉴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시식 이벤트 등 지역 프로모션을 운영해 소상공인의 마케팅을 지원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시즌별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지역 사회 이슈와 연계한 캠페인을 통해 소상공인과 소비자가 모두 참여하고 함께 성장하는 구조를 만듭니다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endParaRPr lang="en-US" altLang="ko-KR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인증샷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후기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랭킹 콘텐츠로 자연스러운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바이럴</a:t>
            </a:r>
            <a:endParaRPr lang="ko-KR" altLang="en-US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방문 인증샷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솔직한 후기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빵집 랭킹 등 유저가 만든 콘텐츠를 앱 내에서 공유할 수 있도록 지원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사용자 간 추천 및 경험 나눔이 자연스럽게 </a:t>
            </a:r>
            <a:r>
              <a:rPr lang="ko-KR" alt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바이럴을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이끌어내어 플랫폼의 활력을 더합니다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endParaRPr lang="en-US" altLang="ko-KR" sz="1200" b="0" i="0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지역 축제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관광과 연계한 이벤트 플랫폼으로 확장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지방자치단체 및 다양한 브랜드와 협력해 지역 축제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관광 프로그램과 연동한 특별 이벤트를 진행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1"/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지역 명소와 빵집을 결합해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앱이 지역 경제와 관광 활성화를 견인할 수 있도록 플랫폼을 발전시킵니다</a:t>
            </a:r>
            <a:r>
              <a:rPr lang="en-US" altLang="ko-K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9278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85648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41684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2203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5561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5305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14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B3695-335D-CBED-4207-82E3FDDEC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78E682-D947-C593-CE44-EE7224466A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E45DDC-A5EA-FD93-12FB-1AC76F39E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64FD96-E307-3D88-7337-E01458639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18691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A9077-5066-1C75-4776-5E03B469F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DA86EE-E53D-1D0C-D91C-5BE89AF36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365F6E-6232-B1BE-257C-73BAF22C6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5A6DB8-392E-2573-9CD2-A7C39CD52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70137B-041D-4A5D-9B03-445135B01CD6}" type="slidenum">
              <a:rPr lang="en-US" altLang="ko-KR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3340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2025-07-23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2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그룹 39">
            <a:extLst>
              <a:ext uri="{FF2B5EF4-FFF2-40B4-BE49-F238E27FC236}">
                <a16:creationId xmlns:a16="http://schemas.microsoft.com/office/drawing/2014/main" id="{DD109151-7FF7-0536-2343-5D7E4310327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CA6CDF4D-5BAC-7274-B827-CF0CB217A27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6595207"/>
              <a:ext cx="12192000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428F7CFB-401B-FCB1-90BC-FFD44A680CB0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262793"/>
              <a:ext cx="12192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2EFEFFED-1350-7599-52CB-D81C91C081C6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69764" y="0"/>
              <a:ext cx="0" cy="685800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F4210BF6-55B9-2EAB-113A-F8D8419DB38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1829075" y="0"/>
              <a:ext cx="0" cy="6858000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28520BA7-2B2F-4E28-3FDE-BEA7D13D3759}"/>
              </a:ext>
            </a:extLst>
          </p:cNvPr>
          <p:cNvGrpSpPr/>
          <p:nvPr/>
        </p:nvGrpSpPr>
        <p:grpSpPr>
          <a:xfrm>
            <a:off x="1206252" y="2228671"/>
            <a:ext cx="5772810" cy="1661994"/>
            <a:chOff x="1206252" y="2228671"/>
            <a:chExt cx="5772810" cy="166199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9F71A1C-2252-4A5E-03A8-084E4F92F168}"/>
                </a:ext>
              </a:extLst>
            </p:cNvPr>
            <p:cNvSpPr txBox="1"/>
            <p:nvPr/>
          </p:nvSpPr>
          <p:spPr>
            <a:xfrm>
              <a:off x="1211681" y="3429000"/>
              <a:ext cx="5767381" cy="461665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OPEN </a:t>
              </a:r>
              <a:r>
                <a:rPr lang="en-US" altLang="ko-KR" sz="2400" b="1" dirty="0" err="1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API를</a:t>
              </a:r>
              <a:r>
                <a:rPr lang="en-US" altLang="ko-KR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 </a:t>
              </a:r>
              <a:r>
                <a:rPr lang="en-US" altLang="ko-KR" sz="2400" b="1" dirty="0" err="1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활용한</a:t>
              </a:r>
              <a:r>
                <a:rPr lang="en-US" altLang="ko-KR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 GPS</a:t>
              </a:r>
              <a:r>
                <a:rPr lang="ko-KR" altLang="en-US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인증 </a:t>
              </a:r>
              <a:r>
                <a:rPr lang="en-US" altLang="ko-KR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앱 </a:t>
              </a:r>
              <a:r>
                <a:rPr lang="ko-KR" altLang="en-US" sz="24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개발</a:t>
              </a:r>
              <a:endParaRPr lang="en-US" altLang="ko-KR" sz="2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EAAAA4-E057-1B55-13AD-28C409A4E688}"/>
                </a:ext>
              </a:extLst>
            </p:cNvPr>
            <p:cNvSpPr txBox="1"/>
            <p:nvPr/>
          </p:nvSpPr>
          <p:spPr>
            <a:xfrm>
              <a:off x="1206252" y="2228671"/>
              <a:ext cx="4889745" cy="1200329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sz="72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오늘 한</a:t>
              </a:r>
              <a:r>
                <a:rPr lang="en-US" altLang="ko-KR" sz="72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 </a:t>
              </a:r>
              <a:r>
                <a:rPr lang="ko-KR" sz="7200" b="1" dirty="0">
                  <a:solidFill>
                    <a:srgbClr val="5D3525"/>
                  </a:solidFill>
                  <a:latin typeface="HY목각파임B" panose="02030600000101010101" pitchFamily="18" charset="-127"/>
                  <a:ea typeface="HY목각파임B" panose="02030600000101010101" pitchFamily="18" charset="-127"/>
                </a:rPr>
                <a:t>빵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08E39EE5-7402-795F-87FD-C44492D35309}"/>
              </a:ext>
            </a:extLst>
          </p:cNvPr>
          <p:cNvSpPr txBox="1"/>
          <p:nvPr/>
        </p:nvSpPr>
        <p:spPr>
          <a:xfrm>
            <a:off x="4298990" y="6218773"/>
            <a:ext cx="36008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오늘도 한 빵 </a:t>
            </a:r>
            <a:r>
              <a:rPr lang="en-US" altLang="ko-KR" sz="16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–</a:t>
            </a:r>
            <a:r>
              <a:rPr lang="en-US" altLang="ko-KR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 </a:t>
            </a:r>
            <a:r>
              <a:rPr lang="ko-KR" altLang="en-US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오호준 </a:t>
            </a:r>
            <a:r>
              <a:rPr lang="en-US" altLang="ko-KR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/ </a:t>
            </a:r>
            <a:r>
              <a:rPr lang="ko-KR" altLang="en-US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성보경</a:t>
            </a:r>
            <a:r>
              <a:rPr lang="en-US" altLang="ko-KR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 / </a:t>
            </a:r>
            <a:r>
              <a:rPr lang="ko-KR" altLang="en-US" sz="1400" b="1" dirty="0" err="1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박미연</a:t>
            </a:r>
            <a:r>
              <a:rPr lang="en-US" altLang="ko-KR" sz="14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 </a:t>
            </a:r>
            <a:endParaRPr lang="ko-KR" altLang="en-US" sz="1400" dirty="0">
              <a:solidFill>
                <a:srgbClr val="5D3525"/>
              </a:solidFill>
              <a:latin typeface="HY목각파임B" panose="02030600000101010101" pitchFamily="18" charset="-127"/>
              <a:ea typeface="HY목각파임B" panose="02030600000101010101" pitchFamily="18" charset="-127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669903F-1CDA-7979-10A7-E99AAB4B27C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6726" y="807789"/>
            <a:ext cx="3633593" cy="524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2109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E6DF51-C5D7-16B9-589D-3F214B8FD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30C81C1-F300-42EF-710A-C3A9CBD1BDA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B608ABBB-2E8C-5B9B-E2AD-F5A2C607C086}"/>
              </a:ext>
            </a:extLst>
          </p:cNvPr>
          <p:cNvCxnSpPr>
            <a:cxnSpLocks/>
            <a:stCxn id="4" idx="1"/>
          </p:cNvCxnSpPr>
          <p:nvPr/>
        </p:nvCxnSpPr>
        <p:spPr>
          <a:xfrm>
            <a:off x="366712" y="3429000"/>
            <a:ext cx="11272838" cy="0"/>
          </a:xfrm>
          <a:prstGeom prst="straightConnector1">
            <a:avLst/>
          </a:prstGeom>
          <a:ln w="57150">
            <a:gradFill flip="none" rotWithShape="1">
              <a:gsLst>
                <a:gs pos="0">
                  <a:srgbClr val="E5D5C1"/>
                </a:gs>
                <a:gs pos="100000">
                  <a:srgbClr val="C19A6B"/>
                </a:gs>
              </a:gsLst>
              <a:lin ang="0" scaled="1"/>
              <a:tileRect/>
            </a:gra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EC1AAF33-75FB-80CC-9E28-CD1CBDB2734D}"/>
              </a:ext>
            </a:extLst>
          </p:cNvPr>
          <p:cNvGrpSpPr>
            <a:grpSpLocks/>
          </p:cNvGrpSpPr>
          <p:nvPr/>
        </p:nvGrpSpPr>
        <p:grpSpPr>
          <a:xfrm>
            <a:off x="790680" y="3326272"/>
            <a:ext cx="9526235" cy="204345"/>
            <a:chOff x="890012" y="3318554"/>
            <a:chExt cx="9526235" cy="204345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9A7D25EE-14C6-007F-CED3-70A172693230}"/>
                </a:ext>
              </a:extLst>
            </p:cNvPr>
            <p:cNvSpPr>
              <a:spLocks/>
            </p:cNvSpPr>
            <p:nvPr/>
          </p:nvSpPr>
          <p:spPr>
            <a:xfrm>
              <a:off x="890012" y="3338433"/>
              <a:ext cx="183356" cy="183356"/>
            </a:xfrm>
            <a:prstGeom prst="ellipse">
              <a:avLst/>
            </a:prstGeom>
            <a:solidFill>
              <a:srgbClr val="BE775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D84FAA3B-A927-C067-4108-C8BC89E43E1D}"/>
                </a:ext>
              </a:extLst>
            </p:cNvPr>
            <p:cNvSpPr>
              <a:spLocks/>
            </p:cNvSpPr>
            <p:nvPr/>
          </p:nvSpPr>
          <p:spPr>
            <a:xfrm>
              <a:off x="2140892" y="3318554"/>
              <a:ext cx="183356" cy="183356"/>
            </a:xfrm>
            <a:prstGeom prst="ellipse">
              <a:avLst/>
            </a:prstGeom>
            <a:solidFill>
              <a:srgbClr val="C98D7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3F593F53-822C-8EF6-18AE-D3A6ECE8BA34}"/>
                </a:ext>
              </a:extLst>
            </p:cNvPr>
            <p:cNvSpPr>
              <a:spLocks/>
            </p:cNvSpPr>
            <p:nvPr/>
          </p:nvSpPr>
          <p:spPr>
            <a:xfrm>
              <a:off x="3440123" y="3331774"/>
              <a:ext cx="183356" cy="183356"/>
            </a:xfrm>
            <a:prstGeom prst="ellipse">
              <a:avLst/>
            </a:prstGeom>
            <a:solidFill>
              <a:srgbClr val="D6A89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4C2C9A38-1B3B-D146-F0CF-D87526C0B632}"/>
                </a:ext>
              </a:extLst>
            </p:cNvPr>
            <p:cNvSpPr>
              <a:spLocks/>
            </p:cNvSpPr>
            <p:nvPr/>
          </p:nvSpPr>
          <p:spPr>
            <a:xfrm>
              <a:off x="4841433" y="3338433"/>
              <a:ext cx="183356" cy="183356"/>
            </a:xfrm>
            <a:prstGeom prst="ellipse">
              <a:avLst/>
            </a:prstGeom>
            <a:solidFill>
              <a:srgbClr val="E6C8B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2CD9F53-9C1D-1A85-7FE0-2C8CC27DFFD3}"/>
                </a:ext>
              </a:extLst>
            </p:cNvPr>
            <p:cNvSpPr>
              <a:spLocks/>
            </p:cNvSpPr>
            <p:nvPr/>
          </p:nvSpPr>
          <p:spPr>
            <a:xfrm>
              <a:off x="6337996" y="3338433"/>
              <a:ext cx="183356" cy="183356"/>
            </a:xfrm>
            <a:prstGeom prst="ellipse">
              <a:avLst/>
            </a:prstGeom>
            <a:solidFill>
              <a:srgbClr val="ECD5C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11547A4D-28C8-8B41-2BB4-A08031EAD4A4}"/>
                </a:ext>
              </a:extLst>
            </p:cNvPr>
            <p:cNvSpPr>
              <a:spLocks/>
            </p:cNvSpPr>
            <p:nvPr/>
          </p:nvSpPr>
          <p:spPr>
            <a:xfrm>
              <a:off x="7525095" y="3339543"/>
              <a:ext cx="183356" cy="183356"/>
            </a:xfrm>
            <a:prstGeom prst="ellipse">
              <a:avLst/>
            </a:prstGeom>
            <a:solidFill>
              <a:srgbClr val="EFDC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1A5C07A8-7810-F3DB-B6B2-332DEA12D1A0}"/>
                </a:ext>
              </a:extLst>
            </p:cNvPr>
            <p:cNvSpPr>
              <a:spLocks/>
            </p:cNvSpPr>
            <p:nvPr/>
          </p:nvSpPr>
          <p:spPr>
            <a:xfrm>
              <a:off x="8875685" y="3338433"/>
              <a:ext cx="183356" cy="183356"/>
            </a:xfrm>
            <a:prstGeom prst="ellipse">
              <a:avLst/>
            </a:prstGeom>
            <a:solidFill>
              <a:srgbClr val="EFDC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7BF10C35-3FA9-7B04-DCC2-CC840E3FB0EE}"/>
                </a:ext>
              </a:extLst>
            </p:cNvPr>
            <p:cNvSpPr>
              <a:spLocks/>
            </p:cNvSpPr>
            <p:nvPr/>
          </p:nvSpPr>
          <p:spPr>
            <a:xfrm>
              <a:off x="10232891" y="3331774"/>
              <a:ext cx="183356" cy="183356"/>
            </a:xfrm>
            <a:prstGeom prst="ellipse">
              <a:avLst/>
            </a:prstGeom>
            <a:solidFill>
              <a:srgbClr val="F1E9D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F7929254-45E0-BC5F-8A40-FBC837223A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80" y="2592920"/>
            <a:ext cx="5649733" cy="1650060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ko-KR" altLang="en-US" sz="2000" b="1" dirty="0" smtClean="0"/>
              <a:t>프로젝트 </a:t>
            </a:r>
            <a:r>
              <a:rPr lang="ko-KR" altLang="en-US" sz="2000" b="1" dirty="0"/>
              <a:t>개요   </a:t>
            </a:r>
            <a:r>
              <a:rPr lang="ko-KR" altLang="en-US" sz="2000" b="1" dirty="0" smtClean="0"/>
              <a:t>       기대효과 </a:t>
            </a:r>
            <a:r>
              <a:rPr lang="ko-KR" altLang="en-US" sz="2000" b="1" dirty="0"/>
              <a:t>및 </a:t>
            </a:r>
            <a:r>
              <a:rPr lang="ko-KR" altLang="en-US" sz="2000" b="1" dirty="0" smtClean="0"/>
              <a:t>활용방안</a:t>
            </a:r>
            <a:endParaRPr lang="en-US" altLang="ko-KR" sz="2000" b="1" dirty="0" smtClean="0"/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 smtClean="0"/>
              <a:t>01                         03</a:t>
            </a:r>
            <a:endParaRPr lang="en-US" altLang="ko-KR" sz="2000" b="1" dirty="0"/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/>
              <a:t>         </a:t>
            </a:r>
            <a:r>
              <a:rPr lang="en-US" altLang="ko-KR" sz="2000" b="1" dirty="0" smtClean="0"/>
              <a:t>     02                          04</a:t>
            </a:r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 smtClean="0"/>
              <a:t>             </a:t>
            </a:r>
            <a:r>
              <a:rPr lang="ko-KR" altLang="en-US" sz="2000" b="1" dirty="0" smtClean="0"/>
              <a:t>기획 </a:t>
            </a:r>
            <a:r>
              <a:rPr lang="ko-KR" altLang="en-US" sz="2000" b="1" dirty="0"/>
              <a:t>및 기능 설명  </a:t>
            </a:r>
            <a:r>
              <a:rPr lang="ko-KR" altLang="en-US" sz="2000" b="1" dirty="0" smtClean="0"/>
              <a:t>    </a:t>
            </a:r>
            <a:r>
              <a:rPr lang="en-US" altLang="ko-KR" sz="2000" b="1" dirty="0" smtClean="0"/>
              <a:t> </a:t>
            </a:r>
            <a:r>
              <a:rPr lang="ko-KR" altLang="en-US" sz="2000" b="1" dirty="0"/>
              <a:t>개발 환경</a:t>
            </a:r>
            <a:endParaRPr lang="en-US" altLang="ko-KR" sz="2000" b="1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FEF0A525-DF96-C8B4-2B31-358D45EB17E5}"/>
              </a:ext>
            </a:extLst>
          </p:cNvPr>
          <p:cNvSpPr txBox="1">
            <a:spLocks/>
          </p:cNvSpPr>
          <p:nvPr/>
        </p:nvSpPr>
        <p:spPr>
          <a:xfrm>
            <a:off x="6095999" y="2609419"/>
            <a:ext cx="5426869" cy="16568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ko-KR" altLang="en-US" sz="2000" b="1" dirty="0" smtClean="0"/>
              <a:t>개발 일정                프로젝트 구현</a:t>
            </a:r>
            <a:endParaRPr lang="en-US" altLang="ko-KR" sz="2000" b="1" dirty="0" smtClean="0"/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 smtClean="0"/>
              <a:t>05                          07</a:t>
            </a:r>
            <a:endParaRPr lang="ko-KR" altLang="en-US" sz="2000" b="1" dirty="0" smtClean="0"/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 smtClean="0"/>
              <a:t>              </a:t>
            </a:r>
            <a:r>
              <a:rPr lang="en-US" altLang="ko-KR" sz="2000" b="1" dirty="0"/>
              <a:t>06 </a:t>
            </a:r>
            <a:r>
              <a:rPr lang="en-US" altLang="ko-KR" sz="2000" b="1" dirty="0" smtClean="0"/>
              <a:t>                          08</a:t>
            </a:r>
          </a:p>
          <a:p>
            <a:pPr marL="0" indent="0" latinLnBrk="0">
              <a:lnSpc>
                <a:spcPct val="100000"/>
              </a:lnSpc>
              <a:buSzPct val="100000"/>
              <a:buNone/>
            </a:pPr>
            <a:r>
              <a:rPr lang="en-US" altLang="ko-KR" sz="2000" b="1" dirty="0" smtClean="0"/>
              <a:t>              UI/UX </a:t>
            </a:r>
            <a:r>
              <a:rPr lang="ko-KR" altLang="en-US" sz="2000" b="1" dirty="0"/>
              <a:t>디자인 </a:t>
            </a:r>
            <a:r>
              <a:rPr lang="ko-KR" altLang="en-US" sz="2000" b="1" dirty="0" smtClean="0"/>
              <a:t>           시연 영상</a:t>
            </a:r>
            <a:endParaRPr lang="en-US" altLang="ko-KR" sz="2000" b="1" dirty="0"/>
          </a:p>
        </p:txBody>
      </p:sp>
      <p:grpSp>
        <p:nvGrpSpPr>
          <p:cNvPr id="22" name="그룹 21"/>
          <p:cNvGrpSpPr/>
          <p:nvPr/>
        </p:nvGrpSpPr>
        <p:grpSpPr>
          <a:xfrm>
            <a:off x="366712" y="345686"/>
            <a:ext cx="3157435" cy="613378"/>
            <a:chOff x="366712" y="345686"/>
            <a:chExt cx="7164388" cy="613378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441169" y="345686"/>
              <a:ext cx="7089931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800" b="1" dirty="0" smtClean="0">
                  <a:latin typeface="Malgun Gothic"/>
                  <a:ea typeface="Malgun Gothic"/>
                </a:rPr>
                <a:t>목차</a:t>
              </a:r>
              <a:r>
                <a:rPr lang="en-US" altLang="ko-KR" sz="2800" b="1" dirty="0" smtClean="0">
                  <a:solidFill>
                    <a:schemeClr val="bg1">
                      <a:lumMod val="75000"/>
                    </a:schemeClr>
                  </a:solidFill>
                  <a:latin typeface="Malgun Gothic"/>
                  <a:ea typeface="Malgun Gothic"/>
                </a:rPr>
                <a:t>_CONTENTS</a:t>
              </a:r>
              <a:endParaRPr lang="ko-KR" altLang="en-US" sz="2800" dirty="0">
                <a:solidFill>
                  <a:schemeClr val="bg1">
                    <a:lumMod val="75000"/>
                  </a:schemeClr>
                </a:solidFill>
                <a:latin typeface="Malgun Gothic"/>
                <a:ea typeface="Malgun Gothic"/>
              </a:endParaRPr>
            </a:p>
          </p:txBody>
        </p:sp>
        <p:pic>
          <p:nvPicPr>
            <p:cNvPr id="21" name="그림 20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6712" y="844127"/>
              <a:ext cx="7164388" cy="11493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97418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5BB3772-E3E4-D9E8-DF52-83FD33EBC63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6881-F8A1-B1E8-2E45-B741FD8B0366}"/>
              </a:ext>
            </a:extLst>
          </p:cNvPr>
          <p:cNvSpPr txBox="1"/>
          <p:nvPr/>
        </p:nvSpPr>
        <p:spPr>
          <a:xfrm>
            <a:off x="1472832" y="2722209"/>
            <a:ext cx="2384677" cy="18620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b="1" dirty="0" err="1">
                <a:latin typeface="Malgun Gothic"/>
                <a:ea typeface="Malgun Gothic"/>
              </a:rPr>
              <a:t>오호준</a:t>
            </a:r>
            <a:r>
              <a:rPr lang="ko-KR" altLang="en-US" b="1" dirty="0">
                <a:latin typeface="Malgun Gothic"/>
                <a:ea typeface="Malgun Gothic"/>
              </a:rPr>
              <a:t> 팀장</a:t>
            </a:r>
            <a:endParaRPr lang="en-US" altLang="ko-KR" b="1" dirty="0">
              <a:latin typeface="Malgun Gothic"/>
              <a:ea typeface="Malgun Gothic"/>
            </a:endParaRPr>
          </a:p>
          <a:p>
            <a:endParaRPr lang="ko-KR" altLang="en-US" b="1" dirty="0">
              <a:latin typeface="Malgun Gothic"/>
              <a:ea typeface="Malgun Gothic"/>
            </a:endParaRPr>
          </a:p>
          <a:p>
            <a:endParaRPr lang="ko-KR" altLang="en-US" b="1" dirty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ko-KR" altLang="en-US" dirty="0" err="1">
                <a:latin typeface="Malgun Gothic"/>
                <a:ea typeface="Malgun Gothic"/>
              </a:rPr>
              <a:t>Design</a:t>
            </a:r>
            <a:endParaRPr lang="ko-KR" altLang="en-US" dirty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ko-KR" altLang="en-US" dirty="0" err="1">
                <a:latin typeface="Malgun Gothic"/>
                <a:ea typeface="Malgun Gothic"/>
              </a:rPr>
              <a:t>Front-End</a:t>
            </a:r>
            <a:endParaRPr lang="ko-KR" altLang="en-US" dirty="0">
              <a:latin typeface="Malgun Gothic"/>
              <a:ea typeface="Malgun Gothic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FF06881-F8A1-B1E8-2E45-B741FD8B0366}"/>
              </a:ext>
            </a:extLst>
          </p:cNvPr>
          <p:cNvSpPr txBox="1"/>
          <p:nvPr/>
        </p:nvSpPr>
        <p:spPr>
          <a:xfrm>
            <a:off x="5009322" y="2722209"/>
            <a:ext cx="2384677" cy="18620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b="1" dirty="0" err="1" smtClean="0">
                <a:latin typeface="Malgun Gothic"/>
                <a:ea typeface="Malgun Gothic"/>
              </a:rPr>
              <a:t>성보경</a:t>
            </a:r>
            <a:r>
              <a:rPr lang="ko-KR" altLang="en-US" b="1" dirty="0" smtClean="0">
                <a:latin typeface="Malgun Gothic"/>
                <a:ea typeface="Malgun Gothic"/>
              </a:rPr>
              <a:t> 팀원</a:t>
            </a:r>
            <a:endParaRPr lang="en-US" altLang="ko-KR" b="1" dirty="0" smtClean="0">
              <a:latin typeface="Malgun Gothic"/>
              <a:ea typeface="Malgun Gothic"/>
            </a:endParaRPr>
          </a:p>
          <a:p>
            <a:endParaRPr lang="ko-KR" altLang="en-US" b="1" dirty="0" smtClean="0">
              <a:latin typeface="Malgun Gothic"/>
              <a:ea typeface="Malgun Gothic"/>
            </a:endParaRPr>
          </a:p>
          <a:p>
            <a:endParaRPr lang="ko-KR" altLang="en-US" b="1" dirty="0" smtClean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ko-KR" altLang="en-US" dirty="0" err="1">
                <a:latin typeface="Malgun Gothic"/>
                <a:ea typeface="Malgun Gothic"/>
              </a:rPr>
              <a:t>Front-End</a:t>
            </a:r>
            <a:endParaRPr lang="en-US" altLang="ko-KR" dirty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en-US" altLang="ko-KR" dirty="0">
                <a:latin typeface="Malgun Gothic"/>
                <a:ea typeface="Malgun Gothic"/>
              </a:rPr>
              <a:t>Back-End</a:t>
            </a:r>
            <a:endParaRPr lang="ko-KR" altLang="en-US" dirty="0">
              <a:latin typeface="Malgun Gothic"/>
              <a:ea typeface="Malgun Gothic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F06881-F8A1-B1E8-2E45-B741FD8B0366}"/>
              </a:ext>
            </a:extLst>
          </p:cNvPr>
          <p:cNvSpPr txBox="1"/>
          <p:nvPr/>
        </p:nvSpPr>
        <p:spPr>
          <a:xfrm>
            <a:off x="8744957" y="2722209"/>
            <a:ext cx="2384677" cy="186204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2500" b="1" dirty="0" err="1" smtClean="0">
                <a:latin typeface="Malgun Gothic"/>
                <a:ea typeface="Malgun Gothic"/>
              </a:rPr>
              <a:t>박미연</a:t>
            </a:r>
            <a:r>
              <a:rPr lang="ko-KR" altLang="en-US" b="1" dirty="0" smtClean="0">
                <a:latin typeface="Malgun Gothic"/>
                <a:ea typeface="Malgun Gothic"/>
              </a:rPr>
              <a:t> 팀원</a:t>
            </a:r>
            <a:endParaRPr lang="en-US" altLang="ko-KR" b="1" dirty="0" smtClean="0">
              <a:latin typeface="Malgun Gothic"/>
              <a:ea typeface="Malgun Gothic"/>
            </a:endParaRPr>
          </a:p>
          <a:p>
            <a:endParaRPr lang="ko-KR" altLang="en-US" b="1" dirty="0" smtClean="0">
              <a:latin typeface="Malgun Gothic"/>
              <a:ea typeface="Malgun Gothic"/>
            </a:endParaRPr>
          </a:p>
          <a:p>
            <a:endParaRPr lang="ko-KR" altLang="en-US" b="1" dirty="0" smtClean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ko-KR" altLang="en-US" dirty="0" err="1">
                <a:latin typeface="Malgun Gothic"/>
                <a:ea typeface="Malgun Gothic"/>
              </a:rPr>
              <a:t>Design</a:t>
            </a:r>
            <a:endParaRPr lang="ko-KR" altLang="en-US" dirty="0">
              <a:latin typeface="Malgun Gothic"/>
              <a:ea typeface="Malgun Gothic"/>
            </a:endParaRPr>
          </a:p>
          <a:p>
            <a:pPr marL="285750" indent="-285750">
              <a:lnSpc>
                <a:spcPct val="150000"/>
              </a:lnSpc>
              <a:buFont typeface="Arial"/>
              <a:buChar char="•"/>
            </a:pPr>
            <a:r>
              <a:rPr lang="ko-KR" altLang="en-US" dirty="0" err="1">
                <a:latin typeface="Malgun Gothic"/>
                <a:ea typeface="Malgun Gothic"/>
              </a:rPr>
              <a:t>Front-End</a:t>
            </a:r>
            <a:endParaRPr lang="ko-KR" altLang="en-US" dirty="0">
              <a:latin typeface="Malgun Gothic"/>
              <a:ea typeface="Malgun Gothic"/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366713" y="353810"/>
            <a:ext cx="4642610" cy="596977"/>
            <a:chOff x="334263" y="345138"/>
            <a:chExt cx="7123809" cy="5969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01.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개요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팀 구성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40" name="그림 39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2" name="모서리가 둥근 직사각형 1"/>
          <p:cNvSpPr/>
          <p:nvPr/>
        </p:nvSpPr>
        <p:spPr>
          <a:xfrm>
            <a:off x="1162878" y="2136913"/>
            <a:ext cx="2325757" cy="3329609"/>
          </a:xfrm>
          <a:prstGeom prst="roundRect">
            <a:avLst/>
          </a:prstGeom>
          <a:noFill/>
          <a:ln w="76200">
            <a:solidFill>
              <a:srgbClr val="BA8F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모서리가 둥근 직사각형 18"/>
          <p:cNvSpPr/>
          <p:nvPr/>
        </p:nvSpPr>
        <p:spPr>
          <a:xfrm>
            <a:off x="4640448" y="2136912"/>
            <a:ext cx="2325757" cy="3329609"/>
          </a:xfrm>
          <a:prstGeom prst="roundRect">
            <a:avLst/>
          </a:prstGeom>
          <a:noFill/>
          <a:ln w="76200">
            <a:solidFill>
              <a:srgbClr val="BA8F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모서리가 둥근 직사각형 19"/>
          <p:cNvSpPr/>
          <p:nvPr/>
        </p:nvSpPr>
        <p:spPr>
          <a:xfrm>
            <a:off x="8421757" y="2136912"/>
            <a:ext cx="2325757" cy="3329609"/>
          </a:xfrm>
          <a:prstGeom prst="roundRect">
            <a:avLst/>
          </a:prstGeom>
          <a:noFill/>
          <a:ln w="76200">
            <a:solidFill>
              <a:srgbClr val="BA8F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7643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845CA5-F452-6EE1-CDB6-CEEAA668E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825C7F6-D872-8D80-1D69-9E981626CA0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34263" y="345138"/>
            <a:ext cx="3259837" cy="954107"/>
            <a:chOff x="334263" y="345138"/>
            <a:chExt cx="7123809" cy="95410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954107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01.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개요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435D89C3-9B83-12DD-7FD2-4E59F0E003BD}"/>
              </a:ext>
            </a:extLst>
          </p:cNvPr>
          <p:cNvSpPr txBox="1"/>
          <p:nvPr/>
        </p:nvSpPr>
        <p:spPr>
          <a:xfrm>
            <a:off x="1314450" y="1776480"/>
            <a:ext cx="10283825" cy="4139595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800" b="1" dirty="0">
                <a:ea typeface="맑은 고딕"/>
              </a:rPr>
              <a:t>주제</a:t>
            </a:r>
            <a:endParaRPr lang="en-US" altLang="ko-KR" sz="2200" b="1" dirty="0">
              <a:ea typeface="맑은 고딕"/>
            </a:endParaRPr>
          </a:p>
          <a:p>
            <a:endParaRPr lang="en-US" altLang="ko-KR" sz="2200" b="1" dirty="0">
              <a:ea typeface="맑은 고딕"/>
            </a:endParaRPr>
          </a:p>
          <a:p>
            <a:r>
              <a:rPr lang="en-US" altLang="ko-KR" sz="2000" b="1" dirty="0">
                <a:ea typeface="맑은 고딕"/>
              </a:rPr>
              <a:t>Open API</a:t>
            </a:r>
            <a:r>
              <a:rPr lang="ko-KR" altLang="en-US" sz="2000" b="1" dirty="0">
                <a:ea typeface="맑은 고딕"/>
              </a:rPr>
              <a:t>를 활용한 </a:t>
            </a:r>
            <a:r>
              <a:rPr lang="en-US" altLang="ko-KR" sz="2000" b="1" dirty="0">
                <a:ea typeface="맑은 고딕"/>
              </a:rPr>
              <a:t>GPS</a:t>
            </a:r>
            <a:r>
              <a:rPr lang="ko-KR" altLang="en-US" sz="2000" b="1" dirty="0" smtClean="0">
                <a:ea typeface="맑은 고딕"/>
              </a:rPr>
              <a:t>인증으로 즐기는 우리 동네 빵집 탐방 스탬프 투어 앱</a:t>
            </a:r>
            <a:endParaRPr lang="en-US" altLang="ko-KR" sz="2000" b="1" dirty="0">
              <a:ea typeface="맑은 고딕"/>
            </a:endParaRPr>
          </a:p>
          <a:p>
            <a:endParaRPr lang="en-US" altLang="ko-KR" sz="2200" b="1" dirty="0">
              <a:ea typeface="맑은 고딕"/>
            </a:endParaRPr>
          </a:p>
          <a:p>
            <a:endParaRPr lang="en-US" altLang="ko-KR" sz="2200" b="1" dirty="0">
              <a:ea typeface="맑은 고딕"/>
            </a:endParaRPr>
          </a:p>
          <a:p>
            <a:r>
              <a:rPr lang="ko-KR" altLang="en-US" sz="2800" b="1" dirty="0">
                <a:ea typeface="맑은 고딕"/>
              </a:rPr>
              <a:t>목표</a:t>
            </a:r>
            <a:endParaRPr lang="en-US" altLang="ko-KR" sz="2800" b="1" dirty="0">
              <a:ea typeface="맑은 고딕"/>
            </a:endParaRPr>
          </a:p>
          <a:p>
            <a:endParaRPr lang="en-US" altLang="ko-KR" sz="2200" b="1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200" b="1" dirty="0">
                <a:ea typeface="맑은 고딕"/>
              </a:rPr>
              <a:t>단순한 빵집 찾기가 아닌 </a:t>
            </a:r>
            <a:r>
              <a:rPr lang="en-US" altLang="ko-KR" sz="2200" b="1" dirty="0">
                <a:ea typeface="맑은 고딕"/>
              </a:rPr>
              <a:t>‘</a:t>
            </a:r>
            <a:r>
              <a:rPr lang="ko-KR" altLang="en-US" sz="2200" b="1" dirty="0" err="1">
                <a:ea typeface="맑은 고딕"/>
              </a:rPr>
              <a:t>빵지순례</a:t>
            </a:r>
            <a:r>
              <a:rPr lang="en-US" altLang="ko-KR" sz="2200" b="1" dirty="0" smtClean="0">
                <a:ea typeface="맑은 고딕"/>
              </a:rPr>
              <a:t>’</a:t>
            </a:r>
            <a:r>
              <a:rPr lang="ko-KR" altLang="en-US" sz="2200" b="1" dirty="0" smtClean="0">
                <a:ea typeface="맑은 고딕"/>
              </a:rPr>
              <a:t> </a:t>
            </a:r>
            <a:r>
              <a:rPr lang="ko-KR" altLang="en-US" sz="2200" b="1" dirty="0">
                <a:ea typeface="맑은 고딕"/>
              </a:rPr>
              <a:t>스탬프 </a:t>
            </a:r>
            <a:r>
              <a:rPr lang="ko-KR" altLang="en-US" sz="2200" b="1" dirty="0" smtClean="0">
                <a:ea typeface="맑은 고딕"/>
              </a:rPr>
              <a:t>투어로 직접 탐방하고</a:t>
            </a:r>
            <a:endParaRPr lang="en-US" altLang="ko-KR" sz="2200" b="1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200" b="1" dirty="0" smtClean="0">
                <a:ea typeface="맑은 고딕"/>
              </a:rPr>
              <a:t>인증하며 경험을 공유하는 플랫폼 </a:t>
            </a:r>
            <a:r>
              <a:rPr lang="ko-KR" altLang="en-US" sz="2200" b="1" dirty="0" smtClean="0">
                <a:ea typeface="맑은 고딕"/>
              </a:rPr>
              <a:t>구축</a:t>
            </a:r>
            <a:endParaRPr lang="en-US" altLang="ko-KR" sz="2200" b="1" dirty="0" smtClean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200" b="1" dirty="0" smtClean="0">
                <a:ea typeface="맑은 고딕"/>
              </a:rPr>
              <a:t>지역 사회와 함께 성장하는 </a:t>
            </a:r>
            <a:r>
              <a:rPr lang="ko-KR" altLang="en-US" sz="2200" b="1" dirty="0" smtClean="0">
                <a:ea typeface="맑은 고딕"/>
              </a:rPr>
              <a:t>연결고리</a:t>
            </a:r>
            <a:endParaRPr lang="ko-KR" altLang="en-US" sz="2200" b="1" dirty="0">
              <a:ea typeface="맑은 고딕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29" y="1776480"/>
            <a:ext cx="495238" cy="5206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29" y="3529080"/>
            <a:ext cx="495238" cy="52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954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" name="그룹 6"/>
          <p:cNvGrpSpPr/>
          <p:nvPr/>
        </p:nvGrpSpPr>
        <p:grpSpPr>
          <a:xfrm>
            <a:off x="334263" y="345138"/>
            <a:ext cx="3259837" cy="954107"/>
            <a:chOff x="334263" y="345138"/>
            <a:chExt cx="7123809" cy="954107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954107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01.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개요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10" name="TextBox 6">
            <a:extLst>
              <a:ext uri="{FF2B5EF4-FFF2-40B4-BE49-F238E27FC236}">
                <a16:creationId xmlns:a16="http://schemas.microsoft.com/office/drawing/2014/main" id="{435D89C3-9B83-12DD-7FD2-4E59F0E003BD}"/>
              </a:ext>
            </a:extLst>
          </p:cNvPr>
          <p:cNvSpPr txBox="1"/>
          <p:nvPr/>
        </p:nvSpPr>
        <p:spPr>
          <a:xfrm>
            <a:off x="1340954" y="1664659"/>
            <a:ext cx="10448924" cy="3901068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2800" b="1" dirty="0">
                <a:ea typeface="맑은 고딕"/>
              </a:rPr>
              <a:t>주제 선정 이유</a:t>
            </a:r>
            <a:r>
              <a:rPr lang="en-US" altLang="ko-KR" sz="2800" b="1" dirty="0">
                <a:ea typeface="맑은 고딕"/>
              </a:rPr>
              <a:t>?</a:t>
            </a:r>
          </a:p>
          <a:p>
            <a:pPr>
              <a:lnSpc>
                <a:spcPct val="150000"/>
              </a:lnSpc>
            </a:pPr>
            <a:endParaRPr lang="en-US" altLang="ko-KR" sz="1500" dirty="0">
              <a:ea typeface="맑은 고딕"/>
            </a:endParaRPr>
          </a:p>
          <a:p>
            <a:pPr marL="342900" indent="-342900">
              <a:buAutoNum type="arabicPeriod"/>
            </a:pPr>
            <a:r>
              <a:rPr lang="ko-KR" altLang="en-US" sz="2000" b="1" dirty="0" smtClean="0">
                <a:ea typeface="맑은 고딕"/>
              </a:rPr>
              <a:t>프랜차이즈 중심 </a:t>
            </a:r>
            <a:r>
              <a:rPr lang="ko-KR" altLang="en-US" sz="2000" b="1" dirty="0">
                <a:ea typeface="맑은 고딕"/>
              </a:rPr>
              <a:t>소비 </a:t>
            </a:r>
            <a:r>
              <a:rPr lang="en-US" altLang="ko-KR" sz="2000" dirty="0" smtClean="0">
                <a:ea typeface="맑은 고딕"/>
              </a:rPr>
              <a:t>-&gt; </a:t>
            </a:r>
            <a:r>
              <a:rPr lang="ko-KR" altLang="en-US" sz="2000" dirty="0" smtClean="0">
                <a:ea typeface="맑은 고딕"/>
              </a:rPr>
              <a:t>지역 상권 저조</a:t>
            </a:r>
            <a:endParaRPr lang="en-US" altLang="ko-KR" sz="2000" dirty="0">
              <a:ea typeface="맑은 고딕"/>
            </a:endParaRPr>
          </a:p>
          <a:p>
            <a:pPr marL="342900" indent="-342900">
              <a:buAutoNum type="arabicPeriod"/>
            </a:pPr>
            <a:endParaRPr lang="en-US" altLang="ko-KR" sz="2000" b="1" dirty="0">
              <a:ea typeface="맑은 고딕"/>
            </a:endParaRPr>
          </a:p>
          <a:p>
            <a:r>
              <a:rPr lang="en-US" altLang="ko-KR" sz="2000" b="1" dirty="0">
                <a:ea typeface="맑은 고딕"/>
              </a:rPr>
              <a:t>2. </a:t>
            </a:r>
            <a:r>
              <a:rPr lang="ko-KR" altLang="en-US" sz="2000" b="1" dirty="0">
                <a:ea typeface="맑은 고딕"/>
              </a:rPr>
              <a:t>검색 </a:t>
            </a:r>
            <a:r>
              <a:rPr lang="ko-KR" altLang="en-US" sz="2000" b="1" dirty="0" smtClean="0">
                <a:ea typeface="맑은 고딕"/>
              </a:rPr>
              <a:t>위주 정보 </a:t>
            </a:r>
            <a:r>
              <a:rPr lang="en-US" altLang="ko-KR" sz="2000" dirty="0" smtClean="0">
                <a:ea typeface="맑은 고딕"/>
              </a:rPr>
              <a:t>-&gt; </a:t>
            </a:r>
            <a:r>
              <a:rPr lang="ko-KR" altLang="en-US" sz="2000" dirty="0" smtClean="0">
                <a:ea typeface="맑은 고딕"/>
              </a:rPr>
              <a:t>단편적 접근</a:t>
            </a:r>
            <a:endParaRPr lang="en-US" altLang="ko-KR" sz="2000" dirty="0">
              <a:ea typeface="맑은 고딕"/>
            </a:endParaRPr>
          </a:p>
          <a:p>
            <a:endParaRPr lang="en-US" altLang="ko-KR" sz="2000" b="1" dirty="0">
              <a:ea typeface="맑은 고딕"/>
            </a:endParaRPr>
          </a:p>
          <a:p>
            <a:r>
              <a:rPr lang="en-US" altLang="ko-KR" sz="2000" b="1" dirty="0">
                <a:ea typeface="맑은 고딕"/>
              </a:rPr>
              <a:t>3. </a:t>
            </a:r>
            <a:r>
              <a:rPr lang="ko-KR" altLang="en-US" sz="2000" b="1" dirty="0">
                <a:ea typeface="맑은 고딕"/>
              </a:rPr>
              <a:t>지역 </a:t>
            </a:r>
            <a:r>
              <a:rPr lang="ko-KR" altLang="en-US" sz="2000" b="1" dirty="0" smtClean="0">
                <a:ea typeface="맑은 고딕"/>
              </a:rPr>
              <a:t>노출</a:t>
            </a:r>
            <a:r>
              <a:rPr lang="en-US" altLang="ko-KR" sz="2000" b="1" dirty="0">
                <a:ea typeface="맑은 고딕"/>
              </a:rPr>
              <a:t>.</a:t>
            </a:r>
            <a:r>
              <a:rPr lang="ko-KR" altLang="en-US" sz="2000" b="1" dirty="0" smtClean="0">
                <a:ea typeface="맑은 고딕"/>
              </a:rPr>
              <a:t> </a:t>
            </a:r>
            <a:r>
              <a:rPr lang="ko-KR" altLang="en-US" sz="2000" b="1" dirty="0">
                <a:ea typeface="맑은 고딕"/>
              </a:rPr>
              <a:t>소통 </a:t>
            </a:r>
            <a:r>
              <a:rPr lang="ko-KR" altLang="en-US" sz="2000" b="1" dirty="0" smtClean="0">
                <a:ea typeface="맑은 고딕"/>
              </a:rPr>
              <a:t>부족 </a:t>
            </a:r>
            <a:r>
              <a:rPr lang="en-US" altLang="ko-KR" sz="2000" dirty="0" smtClean="0">
                <a:ea typeface="맑은 고딕"/>
              </a:rPr>
              <a:t>-&gt; </a:t>
            </a:r>
            <a:r>
              <a:rPr lang="ko-KR" altLang="en-US" sz="2000" dirty="0" smtClean="0">
                <a:ea typeface="맑은 고딕"/>
              </a:rPr>
              <a:t>활력 저하</a:t>
            </a:r>
            <a:endParaRPr lang="en-US" altLang="ko-KR" sz="2000" dirty="0">
              <a:ea typeface="맑은 고딕"/>
            </a:endParaRPr>
          </a:p>
          <a:p>
            <a:endParaRPr lang="en-US" altLang="ko-KR" sz="2000" b="1" dirty="0">
              <a:ea typeface="맑은 고딕"/>
            </a:endParaRPr>
          </a:p>
          <a:p>
            <a:r>
              <a:rPr lang="en-US" altLang="ko-KR" sz="2000" b="1" dirty="0">
                <a:ea typeface="맑은 고딕"/>
              </a:rPr>
              <a:t>4. </a:t>
            </a:r>
            <a:r>
              <a:rPr lang="ko-KR" altLang="en-US" sz="2000" b="1" dirty="0" smtClean="0">
                <a:ea typeface="맑은 고딕"/>
              </a:rPr>
              <a:t>경제</a:t>
            </a:r>
            <a:r>
              <a:rPr lang="en-US" altLang="ko-KR" sz="2000" b="1" dirty="0" smtClean="0">
                <a:ea typeface="맑은 고딕"/>
              </a:rPr>
              <a:t>.</a:t>
            </a:r>
            <a:r>
              <a:rPr lang="ko-KR" altLang="en-US" sz="2000" b="1" dirty="0" smtClean="0">
                <a:ea typeface="맑은 고딕"/>
              </a:rPr>
              <a:t>사회 선순환 플랫폼 기획</a:t>
            </a:r>
            <a:endParaRPr lang="en-US" altLang="ko-KR" sz="2000" b="1" dirty="0">
              <a:ea typeface="맑은 고딕"/>
            </a:endParaRPr>
          </a:p>
          <a:p>
            <a:endParaRPr lang="en-US" altLang="ko-KR" sz="2000" b="1" dirty="0">
              <a:ea typeface="맑은 고딕"/>
            </a:endParaRPr>
          </a:p>
          <a:p>
            <a:r>
              <a:rPr lang="en-US" altLang="ko-KR" sz="2000" b="1" dirty="0">
                <a:ea typeface="맑은 고딕"/>
              </a:rPr>
              <a:t>5. ‘</a:t>
            </a:r>
            <a:r>
              <a:rPr lang="ko-KR" altLang="en-US" sz="2000" b="1" dirty="0" err="1">
                <a:ea typeface="맑은 고딕"/>
              </a:rPr>
              <a:t>빵지순례</a:t>
            </a:r>
            <a:r>
              <a:rPr lang="en-US" altLang="ko-KR" sz="2000" b="1" dirty="0" smtClean="0">
                <a:ea typeface="맑은 고딕"/>
              </a:rPr>
              <a:t>’</a:t>
            </a:r>
            <a:r>
              <a:rPr lang="ko-KR" altLang="en-US" sz="2000" b="1" dirty="0" smtClean="0">
                <a:ea typeface="맑은 고딕"/>
              </a:rPr>
              <a:t>로 취향 </a:t>
            </a:r>
            <a:r>
              <a:rPr lang="en-US" altLang="ko-KR" sz="2000" b="1" dirty="0" smtClean="0">
                <a:ea typeface="맑은 고딕"/>
              </a:rPr>
              <a:t>+ </a:t>
            </a:r>
            <a:r>
              <a:rPr lang="ko-KR" altLang="en-US" sz="2000" b="1" dirty="0" smtClean="0">
                <a:ea typeface="맑은 고딕"/>
              </a:rPr>
              <a:t>탐방 </a:t>
            </a:r>
            <a:r>
              <a:rPr lang="ko-KR" altLang="en-US" sz="2000" b="1" dirty="0">
                <a:ea typeface="맑은 고딕"/>
              </a:rPr>
              <a:t>즐거움 </a:t>
            </a:r>
            <a:r>
              <a:rPr lang="ko-KR" altLang="en-US" sz="2000" b="1" dirty="0" smtClean="0">
                <a:ea typeface="맑은 고딕"/>
              </a:rPr>
              <a:t>제공</a:t>
            </a:r>
            <a:endParaRPr lang="en-US" altLang="ko-KR" sz="2000" b="1" dirty="0">
              <a:ea typeface="맑은 고딕"/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29" y="1776480"/>
            <a:ext cx="495238" cy="52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213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65443" y="1581707"/>
            <a:ext cx="10399923" cy="43858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500" b="1" dirty="0">
                <a:latin typeface="+mj-lt"/>
                <a:ea typeface="맑은 고딕"/>
              </a:rPr>
              <a:t>“</a:t>
            </a:r>
            <a:r>
              <a:rPr lang="ko-KR" altLang="en-US" sz="2500" b="1" dirty="0">
                <a:latin typeface="+mj-lt"/>
                <a:ea typeface="맑은 고딕"/>
              </a:rPr>
              <a:t>빵 하나로 이어지는 지역과 일상</a:t>
            </a:r>
            <a:r>
              <a:rPr lang="en-US" altLang="ko-KR" sz="2500" b="1" dirty="0">
                <a:latin typeface="+mj-lt"/>
                <a:ea typeface="맑은 고딕"/>
              </a:rPr>
              <a:t>“</a:t>
            </a:r>
          </a:p>
          <a:p>
            <a:pPr>
              <a:lnSpc>
                <a:spcPct val="150000"/>
              </a:lnSpc>
            </a:pPr>
            <a:r>
              <a:rPr lang="en-US" altLang="ko-KR" sz="2400" dirty="0"/>
              <a:t>2030</a:t>
            </a:r>
            <a:r>
              <a:rPr lang="ko-KR" altLang="en-US" sz="2400" dirty="0"/>
              <a:t>세대 중심 </a:t>
            </a:r>
            <a:r>
              <a:rPr lang="ko-KR" altLang="en-US" sz="2400" b="1" dirty="0"/>
              <a:t>‘</a:t>
            </a:r>
            <a:r>
              <a:rPr lang="ko-KR" altLang="en-US" sz="2400" b="1" dirty="0" err="1"/>
              <a:t>빵지순례</a:t>
            </a:r>
            <a:r>
              <a:rPr lang="ko-KR" altLang="en-US" sz="2400" b="1" dirty="0"/>
              <a:t>’ </a:t>
            </a:r>
            <a:r>
              <a:rPr lang="ko-KR" altLang="en-US" sz="2400" b="1" dirty="0" smtClean="0"/>
              <a:t>열풍</a:t>
            </a:r>
            <a:r>
              <a:rPr lang="ko-KR" altLang="en-US" sz="2400" dirty="0" smtClean="0"/>
              <a:t>과 </a:t>
            </a:r>
            <a:r>
              <a:rPr lang="en-US" altLang="ko-KR" sz="2400" dirty="0"/>
              <a:t>SNS </a:t>
            </a:r>
            <a:r>
              <a:rPr lang="en-US" altLang="ko-KR" sz="2400" b="1" dirty="0"/>
              <a:t>90</a:t>
            </a:r>
            <a:r>
              <a:rPr lang="ko-KR" altLang="en-US" sz="2400" b="1" dirty="0" smtClean="0"/>
              <a:t>만</a:t>
            </a:r>
            <a:r>
              <a:rPr lang="en-US" altLang="ko-KR" sz="2400" b="1" dirty="0" smtClean="0"/>
              <a:t> </a:t>
            </a:r>
            <a:r>
              <a:rPr lang="ko-KR" altLang="en-US" sz="2400" b="1" dirty="0" smtClean="0"/>
              <a:t>해시태그 </a:t>
            </a:r>
            <a:r>
              <a:rPr lang="ko-KR" altLang="en-US" sz="2400" dirty="0" smtClean="0"/>
              <a:t>→ </a:t>
            </a:r>
            <a:r>
              <a:rPr lang="ko-KR" altLang="en-US" sz="2400" dirty="0"/>
              <a:t>지역 상권 </a:t>
            </a:r>
            <a:r>
              <a:rPr lang="ko-KR" altLang="en-US" sz="2400" dirty="0" smtClean="0"/>
              <a:t>확산</a:t>
            </a:r>
            <a:endParaRPr lang="en-US" altLang="ko-KR" sz="2400" dirty="0" smtClean="0"/>
          </a:p>
          <a:p>
            <a:pPr>
              <a:lnSpc>
                <a:spcPct val="150000"/>
              </a:lnSpc>
            </a:pPr>
            <a:r>
              <a:rPr lang="ko-KR" altLang="en-US" sz="2200" dirty="0" smtClean="0">
                <a:latin typeface="+mj-lt"/>
                <a:ea typeface="맑은 고딕"/>
              </a:rPr>
              <a:t>사용자에겐 </a:t>
            </a:r>
            <a:r>
              <a:rPr lang="ko-KR" altLang="en-US" sz="2300" b="1" dirty="0">
                <a:latin typeface="+mj-lt"/>
                <a:ea typeface="맑은 고딕"/>
              </a:rPr>
              <a:t>취향 여행</a:t>
            </a:r>
            <a:r>
              <a:rPr lang="en-US" altLang="ko-KR" sz="2200" dirty="0">
                <a:latin typeface="+mj-lt"/>
                <a:ea typeface="맑은 고딕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2200" dirty="0">
                <a:latin typeface="+mj-lt"/>
                <a:ea typeface="맑은 고딕"/>
              </a:rPr>
              <a:t>소상공인에겐 </a:t>
            </a:r>
            <a:r>
              <a:rPr lang="ko-KR" altLang="en-US" sz="2300" b="1" dirty="0">
                <a:latin typeface="+mj-lt"/>
                <a:ea typeface="맑은 고딕"/>
              </a:rPr>
              <a:t>노출 기회</a:t>
            </a:r>
            <a:r>
              <a:rPr lang="en-US" altLang="ko-KR" sz="2200" dirty="0">
                <a:latin typeface="+mj-lt"/>
                <a:ea typeface="맑은 고딕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ko-KR" altLang="en-US" sz="2200" dirty="0">
                <a:latin typeface="+mj-lt"/>
                <a:ea typeface="맑은 고딕"/>
              </a:rPr>
              <a:t>지역 사회엔 </a:t>
            </a:r>
            <a:r>
              <a:rPr lang="ko-KR" altLang="en-US" sz="2300" b="1" dirty="0" smtClean="0">
                <a:latin typeface="+mj-lt"/>
                <a:ea typeface="맑은 고딕"/>
              </a:rPr>
              <a:t>활력과 순환</a:t>
            </a:r>
            <a:r>
              <a:rPr lang="ko-KR" altLang="en-US" sz="2200" dirty="0" smtClean="0">
                <a:latin typeface="+mj-lt"/>
                <a:ea typeface="맑은 고딕"/>
              </a:rPr>
              <a:t>을 제공</a:t>
            </a:r>
            <a:endParaRPr lang="en-US" altLang="ko-KR" sz="22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2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300" b="1" dirty="0">
                <a:latin typeface="+mj-lt"/>
                <a:ea typeface="맑은 고딕"/>
              </a:rPr>
              <a:t>GPS </a:t>
            </a:r>
            <a:r>
              <a:rPr lang="ko-KR" altLang="en-US" sz="2300" b="1" dirty="0">
                <a:latin typeface="+mj-lt"/>
                <a:ea typeface="맑은 고딕"/>
              </a:rPr>
              <a:t>인증 </a:t>
            </a:r>
            <a:r>
              <a:rPr lang="en-US" altLang="ko-KR" sz="2300" b="1" dirty="0">
                <a:latin typeface="+mj-lt"/>
                <a:ea typeface="맑은 고딕"/>
              </a:rPr>
              <a:t>+ </a:t>
            </a:r>
            <a:r>
              <a:rPr lang="ko-KR" altLang="en-US" sz="2300" b="1" dirty="0">
                <a:latin typeface="+mj-lt"/>
                <a:ea typeface="맑은 고딕"/>
              </a:rPr>
              <a:t>스탬프 투어 </a:t>
            </a:r>
            <a:r>
              <a:rPr lang="en-US" altLang="ko-KR" sz="2300" b="1" dirty="0">
                <a:latin typeface="+mj-lt"/>
                <a:ea typeface="맑은 고딕"/>
              </a:rPr>
              <a:t>+ </a:t>
            </a:r>
            <a:r>
              <a:rPr lang="ko-KR" altLang="en-US" sz="2300" b="1" dirty="0" err="1" smtClean="0">
                <a:latin typeface="+mj-lt"/>
                <a:ea typeface="맑은 고딕"/>
              </a:rPr>
              <a:t>리워드</a:t>
            </a:r>
            <a:r>
              <a:rPr lang="ko-KR" altLang="en-US" sz="2300" b="1" dirty="0" smtClean="0">
                <a:latin typeface="+mj-lt"/>
                <a:ea typeface="맑은 고딕"/>
              </a:rPr>
              <a:t> 시스템</a:t>
            </a:r>
            <a:r>
              <a:rPr lang="ko-KR" altLang="en-US" sz="2200" dirty="0" smtClean="0">
                <a:latin typeface="+mj-lt"/>
                <a:ea typeface="맑은 고딕"/>
              </a:rPr>
              <a:t>으로</a:t>
            </a:r>
            <a:endParaRPr lang="en-US" altLang="ko-KR" sz="22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즐겁고 지속 가능한 </a:t>
            </a:r>
            <a:r>
              <a:rPr lang="ko-KR" altLang="en-US" sz="2300" b="1" dirty="0" smtClean="0">
                <a:latin typeface="+mj-lt"/>
                <a:ea typeface="맑은 고딕"/>
              </a:rPr>
              <a:t>빵집 탐방 경험</a:t>
            </a:r>
            <a:r>
              <a:rPr lang="ko-KR" altLang="en-US" sz="2200" dirty="0" smtClean="0">
                <a:latin typeface="+mj-lt"/>
                <a:ea typeface="맑은 고딕"/>
              </a:rPr>
              <a:t>을 </a:t>
            </a:r>
            <a:r>
              <a:rPr lang="ko-KR" altLang="en-US" sz="2200" dirty="0">
                <a:latin typeface="+mj-lt"/>
                <a:ea typeface="맑은 고딕"/>
              </a:rPr>
              <a:t>만듭니다</a:t>
            </a:r>
            <a:r>
              <a:rPr lang="en-US" altLang="ko-KR" sz="2200" dirty="0">
                <a:latin typeface="+mj-lt"/>
                <a:ea typeface="맑은 고딕"/>
              </a:rPr>
              <a:t>.</a:t>
            </a:r>
            <a:endParaRPr lang="ko-KR" altLang="en-US" sz="2200" dirty="0">
              <a:latin typeface="+mj-lt"/>
              <a:ea typeface="맑은 고딕"/>
            </a:endParaRPr>
          </a:p>
        </p:txBody>
      </p:sp>
      <p:grpSp>
        <p:nvGrpSpPr>
          <p:cNvPr id="10" name="그룹 9"/>
          <p:cNvGrpSpPr/>
          <p:nvPr/>
        </p:nvGrpSpPr>
        <p:grpSpPr>
          <a:xfrm>
            <a:off x="366712" y="353810"/>
            <a:ext cx="5583937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02.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기획 및 기능 설명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기획 의도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516" y="1660252"/>
            <a:ext cx="495238" cy="5206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05" y="4834417"/>
            <a:ext cx="495238" cy="520635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1544" y="290759"/>
            <a:ext cx="1843822" cy="189012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6795" y="4816889"/>
            <a:ext cx="3743325" cy="107632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695" y="3245351"/>
            <a:ext cx="3781425" cy="121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747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2" y="353810"/>
            <a:ext cx="55839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02.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기획 및 기능 설명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핵심 기능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91964" y="1553588"/>
            <a:ext cx="10399923" cy="50552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위치 기반 탐색 </a:t>
            </a:r>
            <a:r>
              <a:rPr lang="en-US" altLang="ko-KR" sz="2000" dirty="0" smtClean="0">
                <a:latin typeface="+mj-lt"/>
                <a:ea typeface="맑은 고딕"/>
              </a:rPr>
              <a:t>: </a:t>
            </a:r>
            <a:r>
              <a:rPr lang="en-US" altLang="ko-KR" sz="2000" dirty="0">
                <a:latin typeface="+mj-lt"/>
                <a:ea typeface="맑은 고딕"/>
              </a:rPr>
              <a:t>GPS </a:t>
            </a:r>
            <a:r>
              <a:rPr lang="ko-KR" altLang="en-US" sz="2000" dirty="0" smtClean="0">
                <a:latin typeface="+mj-lt"/>
                <a:ea typeface="맑은 고딕"/>
              </a:rPr>
              <a:t>기반 로컬 베이커리 찾기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스탬프 투어 </a:t>
            </a:r>
            <a:r>
              <a:rPr lang="en-US" altLang="ko-KR" sz="2000" dirty="0">
                <a:latin typeface="+mj-lt"/>
                <a:ea typeface="맑은 고딕"/>
              </a:rPr>
              <a:t>: </a:t>
            </a:r>
            <a:r>
              <a:rPr lang="ko-KR" altLang="en-US" sz="2000" dirty="0">
                <a:latin typeface="+mj-lt"/>
                <a:ea typeface="맑은 고딕"/>
              </a:rPr>
              <a:t>방문 </a:t>
            </a:r>
            <a:r>
              <a:rPr lang="ko-KR" altLang="en-US" sz="2000" dirty="0" smtClean="0">
                <a:latin typeface="+mj-lt"/>
                <a:ea typeface="맑은 고딕"/>
              </a:rPr>
              <a:t>인증 </a:t>
            </a:r>
            <a:r>
              <a:rPr lang="en-US" altLang="ko-KR" sz="2000" dirty="0" smtClean="0">
                <a:latin typeface="+mj-lt"/>
                <a:ea typeface="맑은 고딕"/>
              </a:rPr>
              <a:t>&amp;</a:t>
            </a:r>
            <a:r>
              <a:rPr lang="ko-KR" altLang="en-US" sz="2000" dirty="0" smtClean="0">
                <a:latin typeface="+mj-lt"/>
                <a:ea typeface="맑은 고딕"/>
              </a:rPr>
              <a:t> </a:t>
            </a:r>
            <a:r>
              <a:rPr lang="ko-KR" altLang="en-US" sz="2000" dirty="0">
                <a:latin typeface="+mj-lt"/>
                <a:ea typeface="맑은 고딕"/>
              </a:rPr>
              <a:t>스탬프 수집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인증</a:t>
            </a:r>
            <a:r>
              <a:rPr lang="en-US" altLang="ko-KR" sz="2300" b="1" dirty="0">
                <a:latin typeface="+mj-lt"/>
                <a:ea typeface="맑은 고딕"/>
              </a:rPr>
              <a:t>&amp;</a:t>
            </a:r>
            <a:r>
              <a:rPr lang="ko-KR" altLang="en-US" sz="2300" b="1" dirty="0">
                <a:latin typeface="+mj-lt"/>
                <a:ea typeface="맑은 고딕"/>
              </a:rPr>
              <a:t>공유 커뮤니티 </a:t>
            </a:r>
            <a:r>
              <a:rPr lang="en-US" altLang="ko-KR" sz="2000" dirty="0">
                <a:latin typeface="+mj-lt"/>
                <a:ea typeface="맑은 고딕"/>
              </a:rPr>
              <a:t>: </a:t>
            </a:r>
            <a:r>
              <a:rPr lang="ko-KR" altLang="en-US" sz="2000" dirty="0">
                <a:latin typeface="+mj-lt"/>
                <a:ea typeface="맑은 고딕"/>
              </a:rPr>
              <a:t>방문 </a:t>
            </a:r>
            <a:r>
              <a:rPr lang="ko-KR" altLang="en-US" sz="2000" dirty="0" smtClean="0">
                <a:latin typeface="+mj-lt"/>
                <a:ea typeface="맑은 고딕"/>
              </a:rPr>
              <a:t>사진</a:t>
            </a:r>
            <a:r>
              <a:rPr lang="en-US" altLang="ko-KR" sz="2000" dirty="0" smtClean="0">
                <a:latin typeface="+mj-lt"/>
                <a:ea typeface="맑은 고딕"/>
              </a:rPr>
              <a:t>,</a:t>
            </a:r>
            <a:r>
              <a:rPr lang="ko-KR" altLang="en-US" sz="2000" dirty="0" smtClean="0">
                <a:latin typeface="+mj-lt"/>
                <a:ea typeface="맑은 고딕"/>
              </a:rPr>
              <a:t> 후기 공유 </a:t>
            </a:r>
            <a:r>
              <a:rPr lang="en-US" altLang="ko-KR" sz="2000" dirty="0" smtClean="0">
                <a:latin typeface="+mj-lt"/>
                <a:ea typeface="맑은 고딕"/>
              </a:rPr>
              <a:t>&amp; </a:t>
            </a:r>
            <a:r>
              <a:rPr lang="ko-KR" altLang="en-US" sz="2000" dirty="0" smtClean="0">
                <a:latin typeface="+mj-lt"/>
                <a:ea typeface="맑은 고딕"/>
              </a:rPr>
              <a:t>랭킹 </a:t>
            </a:r>
            <a:r>
              <a:rPr lang="ko-KR" altLang="en-US" sz="2000" dirty="0">
                <a:latin typeface="+mj-lt"/>
                <a:ea typeface="맑은 고딕"/>
              </a:rPr>
              <a:t>시스템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미션 </a:t>
            </a:r>
            <a:r>
              <a:rPr lang="ko-KR" altLang="en-US" sz="2300" b="1" dirty="0" err="1">
                <a:latin typeface="+mj-lt"/>
                <a:ea typeface="맑은 고딕"/>
              </a:rPr>
              <a:t>리워드</a:t>
            </a:r>
            <a:r>
              <a:rPr lang="ko-KR" altLang="en-US" sz="2300" b="1" dirty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: </a:t>
            </a:r>
            <a:r>
              <a:rPr lang="ko-KR" altLang="en-US" sz="2000" dirty="0">
                <a:latin typeface="+mj-lt"/>
                <a:ea typeface="맑은 고딕"/>
              </a:rPr>
              <a:t>탐방 완료 시 </a:t>
            </a:r>
            <a:r>
              <a:rPr lang="ko-KR" altLang="en-US" sz="2000" dirty="0" smtClean="0">
                <a:latin typeface="+mj-lt"/>
                <a:ea typeface="맑은 고딕"/>
              </a:rPr>
              <a:t>쿠폰</a:t>
            </a:r>
            <a:r>
              <a:rPr lang="en-US" altLang="ko-KR" sz="2000" dirty="0">
                <a:latin typeface="+mj-lt"/>
                <a:ea typeface="맑은 고딕"/>
              </a:rPr>
              <a:t>, </a:t>
            </a:r>
            <a:r>
              <a:rPr lang="ko-KR" altLang="en-US" sz="2000" dirty="0">
                <a:latin typeface="+mj-lt"/>
                <a:ea typeface="맑은 고딕"/>
              </a:rPr>
              <a:t>포인트 </a:t>
            </a:r>
            <a:r>
              <a:rPr lang="ko-KR" altLang="en-US" sz="2000" dirty="0" smtClean="0">
                <a:latin typeface="+mj-lt"/>
                <a:ea typeface="맑은 고딕"/>
              </a:rPr>
              <a:t>제공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 smtClean="0">
                <a:latin typeface="+mj-lt"/>
                <a:ea typeface="맑은 고딕"/>
              </a:rPr>
              <a:t>가게 </a:t>
            </a:r>
            <a:r>
              <a:rPr lang="ko-KR" altLang="en-US" sz="2300" b="1" dirty="0">
                <a:latin typeface="+mj-lt"/>
                <a:ea typeface="맑은 고딕"/>
              </a:rPr>
              <a:t>노출 강화</a:t>
            </a:r>
            <a:r>
              <a:rPr lang="ko-KR" altLang="en-US" sz="2300" b="1" dirty="0">
                <a:ea typeface="맑은 고딕"/>
              </a:rPr>
              <a:t> </a:t>
            </a:r>
            <a:r>
              <a:rPr lang="en-US" altLang="ko-KR" sz="2000" dirty="0">
                <a:ea typeface="맑은 고딕"/>
              </a:rPr>
              <a:t>: </a:t>
            </a:r>
            <a:r>
              <a:rPr lang="ko-KR" altLang="en-US" sz="2000" dirty="0">
                <a:ea typeface="맑은 고딕"/>
              </a:rPr>
              <a:t>소상공인 대상 등록 </a:t>
            </a:r>
            <a:r>
              <a:rPr lang="en-US" altLang="ko-KR" sz="2000" dirty="0">
                <a:ea typeface="맑은 고딕"/>
              </a:rPr>
              <a:t>+ GPS </a:t>
            </a:r>
            <a:r>
              <a:rPr lang="ko-KR" altLang="en-US" sz="2000" dirty="0" smtClean="0">
                <a:ea typeface="맑은 고딕"/>
              </a:rPr>
              <a:t>기반 </a:t>
            </a:r>
            <a:r>
              <a:rPr lang="ko-KR" altLang="en-US" sz="2000" dirty="0">
                <a:ea typeface="맑은 고딕"/>
              </a:rPr>
              <a:t>자연스러운 추천</a:t>
            </a:r>
            <a:r>
              <a:rPr lang="en-US" altLang="ko-KR" sz="2000" dirty="0">
                <a:ea typeface="맑은 고딕"/>
              </a:rPr>
              <a:t>/</a:t>
            </a:r>
            <a:r>
              <a:rPr lang="ko-KR" altLang="en-US" sz="2000" dirty="0">
                <a:ea typeface="맑은 고딕"/>
              </a:rPr>
              <a:t>노출</a:t>
            </a:r>
            <a:endParaRPr lang="en-US" altLang="ko-KR" sz="2000" dirty="0">
              <a:ea typeface="맑은 고딕"/>
            </a:endParaRPr>
          </a:p>
          <a:p>
            <a:pPr>
              <a:lnSpc>
                <a:spcPct val="150000"/>
              </a:lnSpc>
            </a:pPr>
            <a:endParaRPr lang="ko-KR" altLang="en-US" sz="2000" b="1" dirty="0">
              <a:latin typeface="+mj-lt"/>
              <a:ea typeface="맑은 고딕"/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22" y="1644807"/>
            <a:ext cx="495238" cy="5206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22" y="2597058"/>
            <a:ext cx="495238" cy="5206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22" y="3580620"/>
            <a:ext cx="495238" cy="520635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22" y="4551853"/>
            <a:ext cx="495238" cy="520635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22" y="5509835"/>
            <a:ext cx="495238" cy="52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0039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2" y="348866"/>
            <a:ext cx="69555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02.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기획 및 기능 설명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기존 앱과 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차별점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129333" y="1553856"/>
            <a:ext cx="10399923" cy="45935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300" b="1" dirty="0">
                <a:latin typeface="+mj-lt"/>
                <a:ea typeface="맑은 고딕"/>
              </a:rPr>
              <a:t>GPS </a:t>
            </a:r>
            <a:r>
              <a:rPr lang="ko-KR" altLang="en-US" sz="2300" b="1" dirty="0">
                <a:latin typeface="+mj-lt"/>
                <a:ea typeface="맑은 고딕"/>
              </a:rPr>
              <a:t>인증 스탬프 투어</a:t>
            </a:r>
            <a:r>
              <a:rPr lang="ko-KR" altLang="en-US" sz="2300" dirty="0">
                <a:latin typeface="+mj-lt"/>
                <a:ea typeface="맑은 고딕"/>
              </a:rPr>
              <a:t> </a:t>
            </a:r>
            <a:r>
              <a:rPr lang="en-US" altLang="ko-KR" dirty="0">
                <a:latin typeface="+mj-lt"/>
                <a:ea typeface="맑은 고딕"/>
              </a:rPr>
              <a:t>– </a:t>
            </a:r>
            <a:r>
              <a:rPr lang="ko-KR" altLang="en-US" dirty="0" smtClean="0">
                <a:latin typeface="+mj-lt"/>
                <a:ea typeface="맑은 고딕"/>
              </a:rPr>
              <a:t>실제 방문 확인 </a:t>
            </a:r>
            <a:r>
              <a:rPr lang="en-US" altLang="ko-KR" dirty="0" smtClean="0">
                <a:latin typeface="+mj-lt"/>
                <a:ea typeface="맑은 고딕"/>
              </a:rPr>
              <a:t>&amp;</a:t>
            </a:r>
            <a:r>
              <a:rPr lang="ko-KR" altLang="en-US" dirty="0" smtClean="0">
                <a:latin typeface="+mj-lt"/>
                <a:ea typeface="맑은 고딕"/>
              </a:rPr>
              <a:t> </a:t>
            </a:r>
            <a:r>
              <a:rPr lang="ko-KR" altLang="en-US" dirty="0">
                <a:latin typeface="+mj-lt"/>
                <a:ea typeface="맑은 고딕"/>
              </a:rPr>
              <a:t>스탬프 수집</a:t>
            </a:r>
            <a:endParaRPr lang="en-US" altLang="ko-KR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지속 </a:t>
            </a:r>
            <a:r>
              <a:rPr lang="ko-KR" altLang="en-US" sz="2300" b="1" dirty="0" smtClean="0">
                <a:latin typeface="+mj-lt"/>
                <a:ea typeface="맑은 고딕"/>
              </a:rPr>
              <a:t>가능한 </a:t>
            </a:r>
            <a:r>
              <a:rPr lang="ko-KR" altLang="en-US" sz="2300" b="1" dirty="0">
                <a:latin typeface="+mj-lt"/>
                <a:ea typeface="맑은 고딕"/>
              </a:rPr>
              <a:t>콘텐츠</a:t>
            </a:r>
            <a:r>
              <a:rPr lang="ko-KR" altLang="en-US" sz="2300" dirty="0">
                <a:latin typeface="+mj-lt"/>
                <a:ea typeface="맑은 고딕"/>
              </a:rPr>
              <a:t> </a:t>
            </a:r>
            <a:r>
              <a:rPr lang="en-US" altLang="ko-KR" dirty="0">
                <a:latin typeface="+mj-lt"/>
                <a:ea typeface="맑은 고딕"/>
              </a:rPr>
              <a:t>– </a:t>
            </a:r>
            <a:r>
              <a:rPr lang="ko-KR" altLang="en-US" dirty="0">
                <a:latin typeface="+mj-lt"/>
                <a:ea typeface="맑은 고딕"/>
              </a:rPr>
              <a:t>랭킹</a:t>
            </a:r>
            <a:r>
              <a:rPr lang="en-US" altLang="ko-KR" dirty="0">
                <a:latin typeface="+mj-lt"/>
                <a:ea typeface="맑은 고딕"/>
              </a:rPr>
              <a:t>, </a:t>
            </a:r>
            <a:r>
              <a:rPr lang="ko-KR" altLang="en-US" dirty="0" smtClean="0">
                <a:latin typeface="+mj-lt"/>
                <a:ea typeface="맑은 고딕"/>
              </a:rPr>
              <a:t>포인트로 </a:t>
            </a:r>
            <a:r>
              <a:rPr lang="ko-KR" altLang="en-US" dirty="0">
                <a:latin typeface="+mj-lt"/>
                <a:ea typeface="맑은 고딕"/>
              </a:rPr>
              <a:t>재방문 </a:t>
            </a:r>
            <a:r>
              <a:rPr lang="ko-KR" altLang="en-US" dirty="0" smtClean="0">
                <a:latin typeface="+mj-lt"/>
                <a:ea typeface="맑은 고딕"/>
              </a:rPr>
              <a:t>유도</a:t>
            </a:r>
            <a:endParaRPr lang="en-US" altLang="ko-KR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 smtClean="0">
                <a:ea typeface="맑은 고딕"/>
              </a:rPr>
              <a:t>소상공인 </a:t>
            </a:r>
            <a:r>
              <a:rPr lang="ko-KR" altLang="en-US" sz="2300" b="1" dirty="0">
                <a:ea typeface="맑은 고딕"/>
              </a:rPr>
              <a:t>프로모션 </a:t>
            </a:r>
            <a:r>
              <a:rPr lang="en-US" altLang="ko-KR" dirty="0">
                <a:ea typeface="맑은 고딕"/>
              </a:rPr>
              <a:t>– </a:t>
            </a:r>
            <a:r>
              <a:rPr lang="ko-KR" altLang="en-US" dirty="0" err="1">
                <a:ea typeface="맑은 고딕"/>
              </a:rPr>
              <a:t>신메뉴</a:t>
            </a:r>
            <a:r>
              <a:rPr lang="en-US" altLang="ko-KR" dirty="0">
                <a:ea typeface="맑은 고딕"/>
              </a:rPr>
              <a:t>/</a:t>
            </a:r>
            <a:r>
              <a:rPr lang="ko-KR" altLang="en-US" dirty="0">
                <a:ea typeface="맑은 고딕"/>
              </a:rPr>
              <a:t>이벤트 </a:t>
            </a:r>
            <a:r>
              <a:rPr lang="ko-KR" altLang="en-US" dirty="0" smtClean="0">
                <a:ea typeface="맑은 고딕"/>
              </a:rPr>
              <a:t>연동</a:t>
            </a:r>
            <a:r>
              <a:rPr lang="en-US" altLang="ko-KR" dirty="0" smtClean="0">
                <a:ea typeface="맑은 고딕"/>
              </a:rPr>
              <a:t>, </a:t>
            </a:r>
            <a:r>
              <a:rPr lang="ko-KR" altLang="en-US" dirty="0" smtClean="0">
                <a:ea typeface="맑은 고딕"/>
              </a:rPr>
              <a:t>노출</a:t>
            </a:r>
            <a:endParaRPr lang="en-US" altLang="ko-KR" dirty="0"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지역사회 연계</a:t>
            </a:r>
            <a:r>
              <a:rPr lang="ko-KR" altLang="en-US" sz="2000" b="1" dirty="0">
                <a:latin typeface="+mj-lt"/>
                <a:ea typeface="맑은 고딕"/>
              </a:rPr>
              <a:t> </a:t>
            </a:r>
            <a:r>
              <a:rPr lang="en-US" altLang="ko-KR" dirty="0">
                <a:latin typeface="+mj-lt"/>
                <a:ea typeface="맑은 고딕"/>
              </a:rPr>
              <a:t>– </a:t>
            </a:r>
            <a:r>
              <a:rPr lang="ko-KR" altLang="en-US" dirty="0">
                <a:latin typeface="+mj-lt"/>
                <a:ea typeface="맑은 고딕"/>
              </a:rPr>
              <a:t>지자체</a:t>
            </a:r>
            <a:r>
              <a:rPr lang="en-US" altLang="ko-KR" dirty="0">
                <a:latin typeface="+mj-lt"/>
                <a:ea typeface="맑은 고딕"/>
              </a:rPr>
              <a:t>.</a:t>
            </a:r>
            <a:r>
              <a:rPr lang="ko-KR" altLang="en-US" dirty="0">
                <a:latin typeface="+mj-lt"/>
                <a:ea typeface="맑은 고딕"/>
              </a:rPr>
              <a:t>관광 </a:t>
            </a:r>
            <a:r>
              <a:rPr lang="ko-KR" altLang="en-US" dirty="0" smtClean="0">
                <a:latin typeface="+mj-lt"/>
                <a:ea typeface="맑은 고딕"/>
              </a:rPr>
              <a:t>콘텐츠 협업</a:t>
            </a:r>
            <a:endParaRPr lang="en-US" altLang="ko-KR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300" b="1" dirty="0">
                <a:ea typeface="맑은 고딕"/>
              </a:rPr>
              <a:t>Open API </a:t>
            </a:r>
            <a:r>
              <a:rPr lang="ko-KR" altLang="en-US" sz="2300" b="1" dirty="0" smtClean="0">
                <a:ea typeface="맑은 고딕"/>
              </a:rPr>
              <a:t>추천 </a:t>
            </a:r>
            <a:r>
              <a:rPr lang="en-US" altLang="ko-KR" dirty="0" smtClean="0">
                <a:ea typeface="맑은 고딕"/>
              </a:rPr>
              <a:t>– </a:t>
            </a:r>
            <a:r>
              <a:rPr lang="ko-KR" altLang="en-US" dirty="0" err="1">
                <a:ea typeface="맑은 고딕"/>
              </a:rPr>
              <a:t>공공데이터</a:t>
            </a:r>
            <a:r>
              <a:rPr lang="ko-KR" altLang="en-US" dirty="0">
                <a:ea typeface="맑은 고딕"/>
              </a:rPr>
              <a:t> </a:t>
            </a:r>
            <a:r>
              <a:rPr lang="en-US" altLang="ko-KR" dirty="0">
                <a:ea typeface="맑은 고딕"/>
              </a:rPr>
              <a:t>+ </a:t>
            </a:r>
            <a:r>
              <a:rPr lang="ko-KR" altLang="en-US" dirty="0" smtClean="0">
                <a:ea typeface="맑은 고딕"/>
              </a:rPr>
              <a:t>위치 기반 정교 추천</a:t>
            </a:r>
            <a:endParaRPr lang="en-US" altLang="ko-KR" dirty="0">
              <a:latin typeface="+mj-lt"/>
              <a:ea typeface="맑은 고딕"/>
            </a:endParaRPr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7" y="1646620"/>
            <a:ext cx="495238" cy="5206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7" y="2593548"/>
            <a:ext cx="495238" cy="5206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7" y="3580232"/>
            <a:ext cx="495238" cy="520635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7" y="4550087"/>
            <a:ext cx="495238" cy="520635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087" y="5572082"/>
            <a:ext cx="495238" cy="52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19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2" y="375763"/>
            <a:ext cx="25994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03.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기대 효과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38225" y="1571638"/>
            <a:ext cx="10399923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소비자</a:t>
            </a:r>
            <a:r>
              <a:rPr lang="ko-KR" altLang="en-US" sz="2000" dirty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>
                <a:latin typeface="+mj-lt"/>
                <a:ea typeface="맑은 고딕"/>
              </a:rPr>
              <a:t>동네 속 숨은 베이커리 발견의 즐거움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소상공인</a:t>
            </a:r>
            <a:r>
              <a:rPr lang="ko-KR" altLang="en-US" sz="2000" dirty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>
                <a:latin typeface="+mj-lt"/>
                <a:ea typeface="맑은 고딕"/>
              </a:rPr>
              <a:t>신규 고객 유입 및 브랜드 노출 확대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          </a:t>
            </a:r>
            <a:r>
              <a:rPr lang="en-US" altLang="ko-KR" sz="2000" dirty="0" smtClean="0">
                <a:latin typeface="+mj-lt"/>
                <a:ea typeface="맑은 고딕"/>
              </a:rPr>
              <a:t>  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>
                <a:latin typeface="+mj-lt"/>
                <a:ea typeface="맑은 고딕"/>
              </a:rPr>
              <a:t>플랫폼을 통한 매출 증대 기회 확보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>
                <a:latin typeface="+mj-lt"/>
                <a:ea typeface="맑은 고딕"/>
              </a:rPr>
              <a:t>지역 사회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>
                <a:latin typeface="+mj-lt"/>
                <a:ea typeface="맑은 고딕"/>
              </a:rPr>
              <a:t>골목 상권 활성화</a:t>
            </a: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ko-KR" altLang="en-US" sz="2000" dirty="0">
                <a:latin typeface="+mj-lt"/>
                <a:ea typeface="맑은 고딕"/>
              </a:rPr>
              <a:t>및 지역 경제 순환 기여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             - </a:t>
            </a:r>
            <a:r>
              <a:rPr lang="ko-KR" altLang="en-US" sz="2000" dirty="0">
                <a:latin typeface="+mj-lt"/>
                <a:ea typeface="맑은 고딕"/>
              </a:rPr>
              <a:t>개성 있는 로컬 브랜드 발굴 및 성장 지원</a:t>
            </a: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latin typeface="+mj-lt"/>
                <a:ea typeface="맑은 고딕"/>
              </a:rPr>
              <a:t>이처럼 </a:t>
            </a:r>
            <a:r>
              <a:rPr lang="ko-KR" altLang="en-US" sz="2300" b="1" dirty="0">
                <a:latin typeface="+mj-lt"/>
                <a:ea typeface="맑은 고딕"/>
              </a:rPr>
              <a:t>플랫폼을 통해 사용자와 지역 상권이 함께 성장하는 선순환 구조 </a:t>
            </a:r>
            <a:r>
              <a:rPr lang="ko-KR" altLang="en-US" sz="2000" dirty="0">
                <a:latin typeface="+mj-lt"/>
                <a:ea typeface="맑은 고딕"/>
              </a:rPr>
              <a:t>기대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7" y="1646620"/>
            <a:ext cx="495238" cy="520635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7" y="2593941"/>
            <a:ext cx="495238" cy="52063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7" y="4070922"/>
            <a:ext cx="495238" cy="52063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87" y="5449264"/>
            <a:ext cx="495238" cy="52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9283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2" y="345137"/>
            <a:ext cx="25994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6" y="345138"/>
              <a:ext cx="7067116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03.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활용 방안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7" name="그림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1" y="1815548"/>
            <a:ext cx="10408802" cy="378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4583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FC9E94-C83D-B996-944D-E4D97ADA6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C92AFC27-122B-7D29-018A-8EABB530B5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717DB74C-A9BC-01EF-3E45-91DE8ABFBE19}"/>
              </a:ext>
            </a:extLst>
          </p:cNvPr>
          <p:cNvGrpSpPr/>
          <p:nvPr/>
        </p:nvGrpSpPr>
        <p:grpSpPr>
          <a:xfrm>
            <a:off x="3232722" y="1759364"/>
            <a:ext cx="2056565" cy="1644955"/>
            <a:chOff x="2402426" y="1415142"/>
            <a:chExt cx="2056565" cy="1644955"/>
          </a:xfrm>
        </p:grpSpPr>
        <p:pic>
          <p:nvPicPr>
            <p:cNvPr id="15" name="그림 14" descr="다채로움, 그래픽, 원, 창의성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BAC2184-C714-DA9C-5BF6-2DD59611B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02426" y="2031241"/>
              <a:ext cx="654952" cy="1028856"/>
            </a:xfrm>
            <a:prstGeom prst="rect">
              <a:avLst/>
            </a:prstGeom>
          </p:spPr>
        </p:pic>
        <p:pic>
          <p:nvPicPr>
            <p:cNvPr id="18" name="그림 17" descr="그래픽, 폰트, 스크린샷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34ACA22-E10A-8302-9B3D-6E8E5B906BD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7317" y="2030183"/>
              <a:ext cx="1081674" cy="1016992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1174B3-8347-C1D6-4A8F-CDE4E4EAF8EA}"/>
                </a:ext>
              </a:extLst>
            </p:cNvPr>
            <p:cNvSpPr txBox="1"/>
            <p:nvPr/>
          </p:nvSpPr>
          <p:spPr>
            <a:xfrm>
              <a:off x="2460170" y="1415142"/>
              <a:ext cx="1828800" cy="36576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b="1" dirty="0" err="1">
                  <a:ea typeface="맑은 고딕"/>
                </a:rPr>
                <a:t>Design</a:t>
              </a:r>
              <a:r>
                <a:rPr lang="ko-KR" altLang="en-US" b="1" dirty="0">
                  <a:ea typeface="맑은 고딕"/>
                </a:rPr>
                <a:t> Tool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0733284D-6CF0-37FC-EB67-692D4C61B072}"/>
              </a:ext>
            </a:extLst>
          </p:cNvPr>
          <p:cNvGrpSpPr/>
          <p:nvPr/>
        </p:nvGrpSpPr>
        <p:grpSpPr>
          <a:xfrm>
            <a:off x="7005302" y="1759364"/>
            <a:ext cx="2502140" cy="1639012"/>
            <a:chOff x="5091439" y="707571"/>
            <a:chExt cx="2502140" cy="1639012"/>
          </a:xfrm>
        </p:grpSpPr>
        <p:pic>
          <p:nvPicPr>
            <p:cNvPr id="12" name="그림 11" descr="클립아트, 아동 미술, 만화 영화, 예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5E0EB1A-6BEB-6A6F-678E-678F138F37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09966" y="1316159"/>
              <a:ext cx="1083613" cy="1030424"/>
            </a:xfrm>
            <a:prstGeom prst="rect">
              <a:avLst/>
            </a:prstGeom>
          </p:spPr>
        </p:pic>
        <p:pic>
          <p:nvPicPr>
            <p:cNvPr id="16" name="그림 15" descr="그래픽, 스크린샷, 일렉트릭 블루, 상징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C929EAE-502E-5B6E-BC08-A28F225444E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91439" y="1310023"/>
              <a:ext cx="1092930" cy="1028735"/>
            </a:xfrm>
            <a:prstGeom prst="rect">
              <a:avLst/>
            </a:prstGeom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985BDCB-D623-0F78-4DF6-130028F6057D}"/>
                </a:ext>
              </a:extLst>
            </p:cNvPr>
            <p:cNvSpPr txBox="1"/>
            <p:nvPr/>
          </p:nvSpPr>
          <p:spPr>
            <a:xfrm>
              <a:off x="5431970" y="707571"/>
              <a:ext cx="1828800" cy="36576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b="1" dirty="0" err="1">
                  <a:ea typeface="맑은 고딕"/>
                </a:rPr>
                <a:t>Dev</a:t>
              </a:r>
              <a:r>
                <a:rPr lang="ko-KR" altLang="en-US" b="1" dirty="0">
                  <a:ea typeface="맑은 고딕"/>
                </a:rPr>
                <a:t> Tool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FB3EA34C-9507-F5BA-0593-C5E30CDBCAE1}"/>
              </a:ext>
            </a:extLst>
          </p:cNvPr>
          <p:cNvGrpSpPr/>
          <p:nvPr/>
        </p:nvGrpSpPr>
        <p:grpSpPr>
          <a:xfrm>
            <a:off x="5176502" y="4154033"/>
            <a:ext cx="1828800" cy="1681288"/>
            <a:chOff x="5176502" y="3947556"/>
            <a:chExt cx="1828800" cy="1681288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86BC652-CD4D-4EB1-9C9D-88346A660B9E}"/>
                </a:ext>
              </a:extLst>
            </p:cNvPr>
            <p:cNvSpPr txBox="1"/>
            <p:nvPr/>
          </p:nvSpPr>
          <p:spPr>
            <a:xfrm>
              <a:off x="5176502" y="3947556"/>
              <a:ext cx="1828800" cy="36576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b="1" dirty="0" err="1">
                  <a:ea typeface="맑은 고딕"/>
                </a:rPr>
                <a:t>Back-End</a:t>
              </a:r>
              <a:endParaRPr lang="ko-KR" dirty="0" err="1"/>
            </a:p>
          </p:txBody>
        </p:sp>
        <p:pic>
          <p:nvPicPr>
            <p:cNvPr id="17" name="그림 16" descr="스크린샷, 그래픽,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C31A2DD-88FA-0EC7-4B0D-4F2CF1EBB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72698" y="4590308"/>
              <a:ext cx="1636407" cy="1038536"/>
            </a:xfrm>
            <a:prstGeom prst="rect">
              <a:avLst/>
            </a:prstGeom>
          </p:spPr>
        </p:pic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FFF12028-EFF6-6668-0A74-21F4BE6A1B64}"/>
              </a:ext>
            </a:extLst>
          </p:cNvPr>
          <p:cNvGrpSpPr/>
          <p:nvPr/>
        </p:nvGrpSpPr>
        <p:grpSpPr>
          <a:xfrm>
            <a:off x="8450025" y="4154033"/>
            <a:ext cx="2327888" cy="1542242"/>
            <a:chOff x="8450025" y="3947556"/>
            <a:chExt cx="2327888" cy="1542242"/>
          </a:xfrm>
        </p:grpSpPr>
        <p:pic>
          <p:nvPicPr>
            <p:cNvPr id="3" name="그림 2" descr="그래픽, 텍스트, 폰트, 그래픽 디자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46AC799-30B2-4AA1-5749-0B6E185B27E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50025" y="4455759"/>
              <a:ext cx="2327888" cy="1034039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9CD5385-CCF1-04B7-7CD5-337753D1DC59}"/>
                </a:ext>
              </a:extLst>
            </p:cNvPr>
            <p:cNvSpPr txBox="1"/>
            <p:nvPr/>
          </p:nvSpPr>
          <p:spPr>
            <a:xfrm>
              <a:off x="8699612" y="3947556"/>
              <a:ext cx="1828800" cy="36576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b="1" dirty="0">
                  <a:ea typeface="맑은 고딕"/>
                </a:rPr>
                <a:t>DB/DBMS</a:t>
              </a:r>
              <a:endParaRPr lang="ko-KR" dirty="0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8FAA920-8F07-8D01-6A97-C5348434DDD8}"/>
              </a:ext>
            </a:extLst>
          </p:cNvPr>
          <p:cNvGrpSpPr/>
          <p:nvPr/>
        </p:nvGrpSpPr>
        <p:grpSpPr>
          <a:xfrm>
            <a:off x="1434993" y="4154033"/>
            <a:ext cx="2452420" cy="1806397"/>
            <a:chOff x="1240971" y="4234542"/>
            <a:chExt cx="2452420" cy="1806397"/>
          </a:xfrm>
        </p:grpSpPr>
        <p:pic>
          <p:nvPicPr>
            <p:cNvPr id="14" name="그림 13" descr="폰트, 그래픽, 상징, 로고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9E7F67A-1F9B-41D5-9542-9A7D48FA7B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384009" y="4742745"/>
              <a:ext cx="1309382" cy="1298194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95860C1-3A4B-DFE2-0F0B-ACC5B1022482}"/>
                </a:ext>
              </a:extLst>
            </p:cNvPr>
            <p:cNvSpPr txBox="1"/>
            <p:nvPr/>
          </p:nvSpPr>
          <p:spPr>
            <a:xfrm>
              <a:off x="1469568" y="4234542"/>
              <a:ext cx="1828800" cy="365760"/>
            </a:xfrm>
            <a:prstGeom prst="rect">
              <a:avLst/>
            </a:prstGeom>
            <a:ln/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ko-KR" altLang="en-US" b="1" dirty="0" err="1">
                  <a:ea typeface="맑은 고딕"/>
                </a:rPr>
                <a:t>Front-End</a:t>
              </a:r>
              <a:endParaRPr lang="ko-KR" dirty="0" err="1"/>
            </a:p>
          </p:txBody>
        </p:sp>
        <p:pic>
          <p:nvPicPr>
            <p:cNvPr id="34" name="그림 33" descr="다채로움, 보라색, 바이올렛색, 라일락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D9546DE-9BB1-5C99-97C6-ED2EAC39BF5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40971" y="4974771"/>
              <a:ext cx="816429" cy="827316"/>
            </a:xfrm>
            <a:prstGeom prst="rect">
              <a:avLst/>
            </a:prstGeom>
          </p:spPr>
        </p:pic>
      </p:grpSp>
      <p:grpSp>
        <p:nvGrpSpPr>
          <p:cNvPr id="46" name="그룹 45"/>
          <p:cNvGrpSpPr/>
          <p:nvPr/>
        </p:nvGrpSpPr>
        <p:grpSpPr>
          <a:xfrm>
            <a:off x="366712" y="395149"/>
            <a:ext cx="2548637" cy="954107"/>
            <a:chOff x="334263" y="345138"/>
            <a:chExt cx="7123809" cy="954107"/>
          </a:xfrm>
        </p:grpSpPr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954107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04.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개발 환경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48" name="그림 47"/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7092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73299-0C57-F847-630A-CA6A49F16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7146342-E77F-5584-674A-70DB07521B4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13EBE-30BB-17C4-E79A-8062FB41EBAA}"/>
              </a:ext>
            </a:extLst>
          </p:cNvPr>
          <p:cNvSpPr txBox="1"/>
          <p:nvPr/>
        </p:nvSpPr>
        <p:spPr>
          <a:xfrm>
            <a:off x="1076325" y="1230337"/>
            <a:ext cx="1828800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ea typeface="맑은 고딕"/>
              </a:rPr>
              <a:t>1</a:t>
            </a:r>
            <a:r>
              <a:rPr lang="ko-KR" altLang="en-US" b="1" dirty="0">
                <a:ea typeface="맑은 고딕"/>
              </a:rPr>
              <a:t>주차</a:t>
            </a:r>
            <a:endParaRPr lang="en-US" altLang="ko-KR" b="1" dirty="0">
              <a:ea typeface="맑은 고딕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ea typeface="맑은 고딕"/>
              </a:rPr>
              <a:t>07.01~07.06</a:t>
            </a:r>
            <a:endParaRPr lang="ko-KR" altLang="en-US" sz="1000" b="1" dirty="0">
              <a:ea typeface="맑은 고딕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DEB34A-2CF5-4243-FF9F-0695778A5FB6}"/>
              </a:ext>
            </a:extLst>
          </p:cNvPr>
          <p:cNvSpPr txBox="1"/>
          <p:nvPr/>
        </p:nvSpPr>
        <p:spPr>
          <a:xfrm>
            <a:off x="3814396" y="1230337"/>
            <a:ext cx="1828800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ea typeface="맑은 고딕"/>
              </a:rPr>
              <a:t>2</a:t>
            </a:r>
            <a:r>
              <a:rPr lang="ko-KR" altLang="en-US" b="1" dirty="0">
                <a:ea typeface="맑은 고딕"/>
              </a:rPr>
              <a:t>주차</a:t>
            </a:r>
            <a:endParaRPr lang="en-US" altLang="ko-KR" b="1" dirty="0">
              <a:ea typeface="맑은 고딕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ea typeface="맑은 고딕"/>
              </a:rPr>
              <a:t>07.07~07.13</a:t>
            </a:r>
            <a:endParaRPr lang="ko-KR" altLang="en-US" sz="1000" b="1" dirty="0">
              <a:ea typeface="맑은 고딕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A9DAD8-0D76-4701-C80A-197EB13D6150}"/>
              </a:ext>
            </a:extLst>
          </p:cNvPr>
          <p:cNvSpPr txBox="1"/>
          <p:nvPr/>
        </p:nvSpPr>
        <p:spPr>
          <a:xfrm>
            <a:off x="6543674" y="1223596"/>
            <a:ext cx="1828800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ea typeface="맑은 고딕"/>
              </a:rPr>
              <a:t>3</a:t>
            </a:r>
            <a:r>
              <a:rPr lang="ko-KR" altLang="en-US" b="1" dirty="0">
                <a:ea typeface="맑은 고딕"/>
              </a:rPr>
              <a:t>주차</a:t>
            </a:r>
            <a:endParaRPr lang="en-US" altLang="ko-KR" b="1" dirty="0">
              <a:ea typeface="맑은 고딕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ea typeface="맑은 고딕"/>
              </a:rPr>
              <a:t>07.14~07.20</a:t>
            </a:r>
            <a:endParaRPr lang="ko-KR" altLang="en-US" sz="1000" b="1" dirty="0">
              <a:ea typeface="맑은 고딕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23CF05-09FD-D48E-5DC1-452FABC347C7}"/>
              </a:ext>
            </a:extLst>
          </p:cNvPr>
          <p:cNvSpPr txBox="1"/>
          <p:nvPr/>
        </p:nvSpPr>
        <p:spPr>
          <a:xfrm>
            <a:off x="9294198" y="1230337"/>
            <a:ext cx="1828800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 dirty="0">
                <a:ea typeface="맑은 고딕"/>
              </a:rPr>
              <a:t>4</a:t>
            </a:r>
            <a:r>
              <a:rPr lang="ko-KR" altLang="en-US" b="1" dirty="0">
                <a:ea typeface="맑은 고딕"/>
              </a:rPr>
              <a:t>주차</a:t>
            </a:r>
            <a:endParaRPr lang="en-US" altLang="ko-KR" b="1" dirty="0">
              <a:ea typeface="맑은 고딕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000" b="1" dirty="0">
                <a:ea typeface="맑은 고딕"/>
              </a:rPr>
              <a:t>07.21~07.25</a:t>
            </a:r>
            <a:endParaRPr lang="ko-KR" altLang="en-US" sz="1000" b="1" dirty="0">
              <a:ea typeface="맑은 고딕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912717" y="2093280"/>
            <a:ext cx="2116685" cy="135421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기획 및 설계</a:t>
            </a:r>
            <a:endParaRPr lang="en-US" altLang="ko-KR" sz="1400" b="1" dirty="0">
              <a:solidFill>
                <a:schemeClr val="accent2">
                  <a:lumMod val="75000"/>
                </a:schemeClr>
              </a:solidFill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주제 선정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개발 환경 세팅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벤치마킹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와이어 프레임 제작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C1AA2FD-FEEA-3943-6B91-30EC03A1BB38}"/>
              </a:ext>
            </a:extLst>
          </p:cNvPr>
          <p:cNvSpPr txBox="1"/>
          <p:nvPr/>
        </p:nvSpPr>
        <p:spPr>
          <a:xfrm>
            <a:off x="3654267" y="2100021"/>
            <a:ext cx="2116685" cy="1415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UI/UX </a:t>
            </a:r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디자인</a:t>
            </a:r>
            <a:endParaRPr lang="en-US" altLang="ko-KR" sz="1400" b="1" dirty="0">
              <a:solidFill>
                <a:schemeClr val="accent2">
                  <a:lumMod val="75000"/>
                </a:schemeClr>
              </a:solidFill>
              <a:ea typeface="맑은 고딕"/>
            </a:endParaRPr>
          </a:p>
          <a:p>
            <a:pPr algn="ctr"/>
            <a:endParaRPr lang="en-US" altLang="ko-KR" sz="14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스타일 가이드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프로토타입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 err="1">
                <a:ea typeface="맑은 고딕"/>
              </a:rPr>
              <a:t>목업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ko-KR" altLang="en-US" sz="1200" b="1" dirty="0">
              <a:ea typeface="맑은 고딕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F8C832-8CE0-D009-47DA-DA3E2357E63A}"/>
              </a:ext>
            </a:extLst>
          </p:cNvPr>
          <p:cNvSpPr txBox="1"/>
          <p:nvPr/>
        </p:nvSpPr>
        <p:spPr>
          <a:xfrm>
            <a:off x="6380066" y="2093280"/>
            <a:ext cx="2116685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퍼블리싱</a:t>
            </a:r>
            <a:endParaRPr lang="en-US" altLang="ko-KR" sz="1400" b="1" dirty="0">
              <a:solidFill>
                <a:schemeClr val="accent2">
                  <a:lumMod val="75000"/>
                </a:schemeClr>
              </a:solidFill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Mobile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Tablet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PC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FDC7BB-4D57-AD71-32A6-3DEC969DCE48}"/>
              </a:ext>
            </a:extLst>
          </p:cNvPr>
          <p:cNvSpPr txBox="1"/>
          <p:nvPr/>
        </p:nvSpPr>
        <p:spPr>
          <a:xfrm>
            <a:off x="9130590" y="2093279"/>
            <a:ext cx="2116685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Front-End</a:t>
            </a: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수정 및 보안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52C491E-2324-8A2E-3D6A-B7FB8AB2B88B}"/>
              </a:ext>
            </a:extLst>
          </p:cNvPr>
          <p:cNvSpPr txBox="1"/>
          <p:nvPr/>
        </p:nvSpPr>
        <p:spPr>
          <a:xfrm>
            <a:off x="6380066" y="3559611"/>
            <a:ext cx="2116685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Back-End</a:t>
            </a: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동적 구현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API </a:t>
            </a:r>
            <a:r>
              <a:rPr lang="ko-KR" altLang="en-US" sz="1200" b="1" dirty="0">
                <a:ea typeface="맑은 고딕"/>
              </a:rPr>
              <a:t>활용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GPS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2FD6EA-BFD0-2323-9A67-A3E2FB806C07}"/>
              </a:ext>
            </a:extLst>
          </p:cNvPr>
          <p:cNvSpPr txBox="1"/>
          <p:nvPr/>
        </p:nvSpPr>
        <p:spPr>
          <a:xfrm>
            <a:off x="9130590" y="3559611"/>
            <a:ext cx="2116685" cy="80021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Back-End</a:t>
            </a: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수정 및 보안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17E2D8-404C-89D1-B087-429F9BE8A357}"/>
              </a:ext>
            </a:extLst>
          </p:cNvPr>
          <p:cNvSpPr txBox="1"/>
          <p:nvPr/>
        </p:nvSpPr>
        <p:spPr>
          <a:xfrm>
            <a:off x="9130590" y="5099556"/>
            <a:ext cx="2116685" cy="9848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마무리</a:t>
            </a:r>
            <a:endParaRPr lang="en-US" altLang="ko-KR" sz="1400" b="1" dirty="0">
              <a:solidFill>
                <a:schemeClr val="accent2">
                  <a:lumMod val="75000"/>
                </a:schemeClr>
              </a:solidFill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마지막 테스트 및 점검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발표 준비</a:t>
            </a:r>
            <a:endParaRPr lang="en-US" altLang="ko-KR" sz="1200" b="1" dirty="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311F83-03B2-762A-AA79-D27927FA6EFD}"/>
              </a:ext>
            </a:extLst>
          </p:cNvPr>
          <p:cNvSpPr txBox="1"/>
          <p:nvPr/>
        </p:nvSpPr>
        <p:spPr>
          <a:xfrm>
            <a:off x="3638514" y="3565609"/>
            <a:ext cx="2116685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퍼블리싱</a:t>
            </a:r>
            <a:endParaRPr lang="en-US" altLang="ko-KR" sz="1400" b="1" dirty="0">
              <a:solidFill>
                <a:schemeClr val="accent2">
                  <a:lumMod val="75000"/>
                </a:schemeClr>
              </a:solidFill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Mobile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Tablet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PC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0AD239-CBD1-2F56-1EB2-6848B0BF402E}"/>
              </a:ext>
            </a:extLst>
          </p:cNvPr>
          <p:cNvSpPr txBox="1"/>
          <p:nvPr/>
        </p:nvSpPr>
        <p:spPr>
          <a:xfrm>
            <a:off x="3638514" y="5099556"/>
            <a:ext cx="2116685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400" b="1" dirty="0">
                <a:solidFill>
                  <a:schemeClr val="accent2">
                    <a:lumMod val="75000"/>
                  </a:schemeClr>
                </a:solidFill>
                <a:ea typeface="맑은 고딕"/>
              </a:rPr>
              <a:t>Back-End</a:t>
            </a:r>
          </a:p>
          <a:p>
            <a:pPr algn="ctr"/>
            <a:endParaRPr lang="en-US" altLang="ko-KR" sz="1000" b="1" dirty="0">
              <a:ea typeface="맑은 고딕"/>
            </a:endParaRPr>
          </a:p>
          <a:p>
            <a:pPr algn="ctr"/>
            <a:endParaRPr lang="en-US" altLang="ko-KR" sz="10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b="1" dirty="0">
                <a:ea typeface="맑은 고딕"/>
              </a:rPr>
              <a:t>동적 구현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API </a:t>
            </a:r>
            <a:r>
              <a:rPr lang="ko-KR" altLang="en-US" sz="1200" b="1" dirty="0">
                <a:ea typeface="맑은 고딕"/>
              </a:rPr>
              <a:t>활용</a:t>
            </a:r>
            <a:endParaRPr lang="en-US" altLang="ko-KR" sz="1200" b="1" dirty="0">
              <a:ea typeface="맑은 고딕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200" b="1" dirty="0">
                <a:ea typeface="맑은 고딕"/>
              </a:rPr>
              <a:t>GPS</a:t>
            </a:r>
          </a:p>
        </p:txBody>
      </p:sp>
      <p:cxnSp>
        <p:nvCxnSpPr>
          <p:cNvPr id="2" name="직선 연결선 1"/>
          <p:cNvCxnSpPr/>
          <p:nvPr/>
        </p:nvCxnSpPr>
        <p:spPr>
          <a:xfrm>
            <a:off x="1379129" y="2398148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/>
          <p:nvPr/>
        </p:nvCxnSpPr>
        <p:spPr>
          <a:xfrm>
            <a:off x="4117201" y="2398609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/>
          <p:cNvCxnSpPr/>
          <p:nvPr/>
        </p:nvCxnSpPr>
        <p:spPr>
          <a:xfrm>
            <a:off x="6846478" y="2398148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/>
          <p:cNvCxnSpPr/>
          <p:nvPr/>
        </p:nvCxnSpPr>
        <p:spPr>
          <a:xfrm>
            <a:off x="9597002" y="2398148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4117201" y="3863615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/>
          <p:cNvCxnSpPr/>
          <p:nvPr/>
        </p:nvCxnSpPr>
        <p:spPr>
          <a:xfrm>
            <a:off x="4117201" y="5387616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/>
          <p:cNvCxnSpPr/>
          <p:nvPr/>
        </p:nvCxnSpPr>
        <p:spPr>
          <a:xfrm>
            <a:off x="6924522" y="3863154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/>
          <p:nvPr/>
        </p:nvCxnSpPr>
        <p:spPr>
          <a:xfrm>
            <a:off x="9597001" y="3863154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/>
          <p:cNvCxnSpPr/>
          <p:nvPr/>
        </p:nvCxnSpPr>
        <p:spPr>
          <a:xfrm>
            <a:off x="9597001" y="5387616"/>
            <a:ext cx="1223189" cy="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그룹 4"/>
          <p:cNvGrpSpPr/>
          <p:nvPr/>
        </p:nvGrpSpPr>
        <p:grpSpPr>
          <a:xfrm>
            <a:off x="361583" y="358922"/>
            <a:ext cx="2558409" cy="596977"/>
            <a:chOff x="334263" y="345138"/>
            <a:chExt cx="7123809" cy="59697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개발 일정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3" name="그림 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6658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34263" y="345138"/>
            <a:ext cx="50251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벤치 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마킹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grpSp>
        <p:nvGrpSpPr>
          <p:cNvPr id="7" name="그룹 6"/>
          <p:cNvGrpSpPr/>
          <p:nvPr/>
        </p:nvGrpSpPr>
        <p:grpSpPr>
          <a:xfrm>
            <a:off x="1181099" y="1093816"/>
            <a:ext cx="2703209" cy="5357784"/>
            <a:chOff x="1076325" y="1093816"/>
            <a:chExt cx="2807984" cy="5723090"/>
          </a:xfrm>
        </p:grpSpPr>
        <p:pic>
          <p:nvPicPr>
            <p:cNvPr id="8" name="그림 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17794" y="1685812"/>
              <a:ext cx="2766515" cy="513109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7F13EBE-30BB-17C4-E79A-8062FB41EBAA}"/>
                </a:ext>
              </a:extLst>
            </p:cNvPr>
            <p:cNvSpPr txBox="1"/>
            <p:nvPr/>
          </p:nvSpPr>
          <p:spPr>
            <a:xfrm>
              <a:off x="1076325" y="1093816"/>
              <a:ext cx="2807984" cy="41402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600" b="1" dirty="0" err="1">
                  <a:solidFill>
                    <a:schemeClr val="tx1"/>
                  </a:solidFill>
                  <a:ea typeface="맑은 고딕"/>
                </a:rPr>
                <a:t>블랙야크</a:t>
              </a:r>
              <a:r>
                <a:rPr lang="ko-KR" altLang="en-US" sz="1600" b="1" dirty="0">
                  <a:solidFill>
                    <a:schemeClr val="tx1"/>
                  </a:solidFill>
                  <a:ea typeface="맑은 고딕"/>
                </a:rPr>
                <a:t> 알파인 클럽 </a:t>
              </a:r>
              <a:r>
                <a:rPr lang="en-US" altLang="ko-KR" sz="1600" b="1" dirty="0">
                  <a:solidFill>
                    <a:schemeClr val="tx1"/>
                  </a:solidFill>
                  <a:ea typeface="맑은 고딕"/>
                </a:rPr>
                <a:t>BAC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5359400" y="1109735"/>
            <a:ext cx="5636296" cy="5341865"/>
            <a:chOff x="5333933" y="1109735"/>
            <a:chExt cx="5864963" cy="5588680"/>
          </a:xfrm>
        </p:grpSpPr>
        <p:pic>
          <p:nvPicPr>
            <p:cNvPr id="11" name="그림 10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933" y="1685812"/>
              <a:ext cx="2895666" cy="5012603"/>
            </a:xfrm>
            <a:prstGeom prst="rect">
              <a:avLst/>
            </a:prstGeom>
          </p:spPr>
        </p:pic>
        <p:pic>
          <p:nvPicPr>
            <p:cNvPr id="12" name="그림 1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347994" y="1685812"/>
              <a:ext cx="2850902" cy="324973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7F13EBE-30BB-17C4-E79A-8062FB41EBAA}"/>
                </a:ext>
              </a:extLst>
            </p:cNvPr>
            <p:cNvSpPr txBox="1"/>
            <p:nvPr/>
          </p:nvSpPr>
          <p:spPr>
            <a:xfrm>
              <a:off x="7047548" y="1109735"/>
              <a:ext cx="2807984" cy="414024"/>
            </a:xfrm>
            <a:prstGeom prst="rect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ko-KR" altLang="en-US" sz="1600" b="1" dirty="0" err="1">
                  <a:solidFill>
                    <a:schemeClr val="tx1"/>
                  </a:solidFill>
                  <a:ea typeface="맑은 고딕"/>
                </a:rPr>
                <a:t>아모제</a:t>
              </a:r>
              <a:r>
                <a:rPr lang="ko-KR" altLang="en-US" sz="1600" b="1" dirty="0">
                  <a:solidFill>
                    <a:schemeClr val="tx1"/>
                  </a:solidFill>
                  <a:ea typeface="맑은 고딕"/>
                </a:rPr>
                <a:t> </a:t>
              </a:r>
              <a:r>
                <a:rPr lang="ko-KR" altLang="en-US" sz="1600" b="1" dirty="0" err="1">
                  <a:solidFill>
                    <a:schemeClr val="tx1"/>
                  </a:solidFill>
                  <a:ea typeface="맑은 고딕"/>
                </a:rPr>
                <a:t>배달타자</a:t>
              </a:r>
              <a:endParaRPr lang="en-US" altLang="ko-KR" sz="1600" b="1" dirty="0">
                <a:solidFill>
                  <a:schemeClr val="tx1"/>
                </a:solidFill>
                <a:ea typeface="맑은 고딕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40510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A68C0-446A-57DB-2582-9C3E8DE7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106DFB4-EC2E-3D2B-DBFB-78615D28C6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09D9D40-8D05-5A91-43B7-310049E351D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77278" y="760576"/>
            <a:ext cx="8212621" cy="5945222"/>
          </a:xfrm>
          <a:prstGeom prst="rect">
            <a:avLst/>
          </a:prstGeom>
        </p:spPr>
      </p:pic>
      <p:grpSp>
        <p:nvGrpSpPr>
          <p:cNvPr id="20" name="그룹 19"/>
          <p:cNvGrpSpPr/>
          <p:nvPr/>
        </p:nvGrpSpPr>
        <p:grpSpPr>
          <a:xfrm>
            <a:off x="366713" y="315120"/>
            <a:ext cx="5310188" cy="596977"/>
            <a:chOff x="334263" y="345138"/>
            <a:chExt cx="7123809" cy="59697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플로우차트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22" name="그림 21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83475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A68C0-446A-57DB-2582-9C3E8DE75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F106DFB4-EC2E-3D2B-DBFB-78615D28C6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53EC76F-C851-1DE9-A62E-FE09142BC10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0659" y="924925"/>
            <a:ext cx="9250680" cy="5617955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38CE1BFD-4B65-606C-6354-94B06CBD29D8}"/>
              </a:ext>
            </a:extLst>
          </p:cNvPr>
          <p:cNvGrpSpPr/>
          <p:nvPr/>
        </p:nvGrpSpPr>
        <p:grpSpPr>
          <a:xfrm>
            <a:off x="366713" y="315120"/>
            <a:ext cx="5310188" cy="596977"/>
            <a:chOff x="334263" y="345138"/>
            <a:chExt cx="7123809" cy="5969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F476CA5-F297-F4A8-07D9-23E23FF9D4D9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>
                  <a:latin typeface="Malgun Gothic"/>
                  <a:ea typeface="Malgun Gothic"/>
                </a:rPr>
                <a:t>05. 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 </a:t>
              </a:r>
              <a:r>
                <a:rPr lang="en-US" altLang="ko-KR" sz="2800" b="1" dirty="0">
                  <a:latin typeface="Malgun Gothic"/>
                  <a:ea typeface="Malgun Gothic"/>
                </a:rPr>
                <a:t>-ERD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7715FE7E-5542-0925-D110-AC592F531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48264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804955-5AF1-2102-E218-65286444A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E585E0-BC96-D195-B4B0-B16B274FD7A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E7A40DD-5018-1849-6E10-D9018C6544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1994" y="1922894"/>
            <a:ext cx="1166179" cy="10860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898B266-9D62-4CAF-7EA1-4E8817CDB284}"/>
              </a:ext>
            </a:extLst>
          </p:cNvPr>
          <p:cNvSpPr txBox="1"/>
          <p:nvPr/>
        </p:nvSpPr>
        <p:spPr>
          <a:xfrm>
            <a:off x="5236088" y="1358573"/>
            <a:ext cx="1828800" cy="4462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2300" b="1" dirty="0">
                <a:ea typeface="맑은 고딕"/>
              </a:rPr>
              <a:t>Color</a:t>
            </a:r>
            <a:endParaRPr lang="ko-KR" altLang="en-US" sz="2300" b="1" dirty="0">
              <a:ea typeface="맑은 고딕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6E6C7-6C80-564C-DB49-69777803B09C}"/>
              </a:ext>
            </a:extLst>
          </p:cNvPr>
          <p:cNvSpPr txBox="1"/>
          <p:nvPr/>
        </p:nvSpPr>
        <p:spPr>
          <a:xfrm>
            <a:off x="1101994" y="4730808"/>
            <a:ext cx="2116685" cy="132343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200" b="1" dirty="0">
                <a:ea typeface="맑은 고딕"/>
              </a:rPr>
              <a:t>Main Font</a:t>
            </a:r>
            <a:endParaRPr lang="en-US" altLang="ko-KR" sz="2200" b="1" dirty="0"/>
          </a:p>
          <a:p>
            <a:pPr>
              <a:lnSpc>
                <a:spcPct val="200000"/>
              </a:lnSpc>
            </a:pPr>
            <a:r>
              <a:rPr lang="en-US" altLang="ko-KR" b="1" dirty="0"/>
              <a:t>Noto Sans KR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991C52-82A2-F8DA-F170-3773A0F1F39D}"/>
              </a:ext>
            </a:extLst>
          </p:cNvPr>
          <p:cNvSpPr txBox="1"/>
          <p:nvPr/>
        </p:nvSpPr>
        <p:spPr>
          <a:xfrm>
            <a:off x="547209" y="1326140"/>
            <a:ext cx="1828800" cy="4462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2300" b="1" dirty="0" smtClean="0">
                <a:ea typeface="맑은 고딕"/>
              </a:rPr>
              <a:t>Logo</a:t>
            </a:r>
            <a:endParaRPr lang="ko-KR" altLang="en-US" sz="2300" b="1" dirty="0">
              <a:ea typeface="맑은 고딕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2BD490-B71A-7513-9399-639B54ABB1BF}"/>
              </a:ext>
            </a:extLst>
          </p:cNvPr>
          <p:cNvSpPr txBox="1"/>
          <p:nvPr/>
        </p:nvSpPr>
        <p:spPr>
          <a:xfrm>
            <a:off x="1071192" y="3153508"/>
            <a:ext cx="4021508" cy="14327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따뜻한 지역 빵집 탐방의 즐거움을 표현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식빵 캐릭터 </a:t>
            </a:r>
            <a:r>
              <a:rPr lang="en-US" altLang="ko-KR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: </a:t>
            </a: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지역의 개성 있는 로컬 </a:t>
            </a:r>
            <a:r>
              <a:rPr lang="ko-KR" altLang="en-US" sz="1500" b="1" dirty="0" smtClean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빵 </a:t>
            </a: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상징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카메라 아이콘 </a:t>
            </a:r>
            <a:r>
              <a:rPr lang="en-US" altLang="ko-KR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: </a:t>
            </a: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기록과 </a:t>
            </a:r>
            <a:r>
              <a:rPr lang="ko-KR" altLang="en-US" sz="1500" b="1" dirty="0" smtClean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공유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웃는 얼굴 </a:t>
            </a:r>
            <a:r>
              <a:rPr lang="en-US" altLang="ko-KR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: </a:t>
            </a: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친근함과 행복한 경험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2923" y="1991157"/>
            <a:ext cx="3333750" cy="50482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6384" y="3721743"/>
            <a:ext cx="3343275" cy="50482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445" y="4475873"/>
            <a:ext cx="3371850" cy="533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E2BD490-B71A-7513-9399-639B54ABB1BF}"/>
              </a:ext>
            </a:extLst>
          </p:cNvPr>
          <p:cNvSpPr txBox="1"/>
          <p:nvPr/>
        </p:nvSpPr>
        <p:spPr>
          <a:xfrm>
            <a:off x="5862391" y="2533199"/>
            <a:ext cx="4129747" cy="101566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따뜻함과 활력을 상징하는 오렌지 계열 컬러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 marL="228600" indent="-228600">
              <a:buAutoNum type="arabicParenR"/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빵의 고소함과 따뜻한 굽는 색감을 연상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 marL="228600" indent="-228600">
              <a:buAutoNum type="arabicParenR"/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밝고 긍정적인 에너지를 표현</a:t>
            </a:r>
            <a:endParaRPr lang="en-US" altLang="ko-KR" sz="1500" b="1" dirty="0">
              <a:solidFill>
                <a:schemeClr val="tx1">
                  <a:lumMod val="50000"/>
                  <a:lumOff val="50000"/>
                </a:schemeClr>
              </a:solidFill>
              <a:ea typeface="맑은 고딕"/>
            </a:endParaRPr>
          </a:p>
          <a:p>
            <a:pPr marL="228600" indent="-228600">
              <a:buAutoNum type="arabicParenR"/>
            </a:pPr>
            <a:r>
              <a:rPr lang="ko-KR" altLang="en-US" sz="1500" b="1" dirty="0">
                <a:solidFill>
                  <a:schemeClr val="tx1">
                    <a:lumMod val="50000"/>
                    <a:lumOff val="50000"/>
                  </a:schemeClr>
                </a:solidFill>
                <a:ea typeface="맑은 고딕"/>
              </a:rPr>
              <a:t>시선을 끌면서 부드러운 인상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366712" y="315120"/>
            <a:ext cx="5622037" cy="596977"/>
            <a:chOff x="334263" y="345138"/>
            <a:chExt cx="7123809" cy="596977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스타일가이드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37" name="그림 36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510048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63" y="1001729"/>
            <a:ext cx="2510083" cy="5242369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716" y="1014533"/>
            <a:ext cx="2484732" cy="5230159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10381" y="1014533"/>
            <a:ext cx="2513522" cy="5230159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8969" y="1022524"/>
            <a:ext cx="1566761" cy="52225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453633" y="6187369"/>
            <a:ext cx="9573630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rgbClr val="A63095"/>
                </a:solidFill>
                <a:ea typeface="맑은 고딕"/>
              </a:rPr>
              <a:t>로딩                                               로그인                                        홈                                          지도</a:t>
            </a:r>
            <a:endParaRPr lang="en-US" altLang="ko-KR" sz="1300" b="1" dirty="0">
              <a:solidFill>
                <a:srgbClr val="A63095"/>
              </a:solidFill>
              <a:ea typeface="맑은 고딕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366712" y="315120"/>
            <a:ext cx="5622037" cy="596977"/>
            <a:chOff x="334263" y="345138"/>
            <a:chExt cx="7123809" cy="59697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와이어프레임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9838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2" y="315120"/>
            <a:ext cx="562203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와이어프레임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49" y="1023666"/>
            <a:ext cx="10477499" cy="516472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415814" y="6188386"/>
            <a:ext cx="10167815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공지사항          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공지사항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상세페이지                              빵집 검색                              빵집 상세페이지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4145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453915" y="6218132"/>
            <a:ext cx="9931840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인증                                               요청                    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더보기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                           포인트 내역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978" y="924175"/>
            <a:ext cx="10800041" cy="5293957"/>
          </a:xfrm>
          <a:prstGeom prst="rect">
            <a:avLst/>
          </a:prstGeom>
        </p:spPr>
      </p:pic>
      <p:grpSp>
        <p:nvGrpSpPr>
          <p:cNvPr id="10" name="그룹 9"/>
          <p:cNvGrpSpPr/>
          <p:nvPr/>
        </p:nvGrpSpPr>
        <p:grpSpPr>
          <a:xfrm>
            <a:off x="366712" y="315120"/>
            <a:ext cx="5622037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와이어프레임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366052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800" y="1015905"/>
            <a:ext cx="8039100" cy="528774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2595276" y="6181236"/>
            <a:ext cx="7808072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</a:t>
            </a:r>
            <a:r>
              <a:rPr lang="en-US" altLang="ko-KR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-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나의인증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</a:t>
            </a:r>
            <a:r>
              <a:rPr lang="en-US" altLang="ko-KR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-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나의리뷰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366712" y="315120"/>
            <a:ext cx="7291388" cy="596977"/>
            <a:chOff x="334263" y="345138"/>
            <a:chExt cx="7123809" cy="59697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와이어프레임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_</a:t>
              </a:r>
              <a:r>
                <a:rPr lang="ko-KR" altLang="en-US" sz="2200" dirty="0" err="1" smtClean="0">
                  <a:latin typeface="Malgun Gothic"/>
                  <a:ea typeface="Malgun Gothic"/>
                </a:rPr>
                <a:t>마이페이지</a:t>
              </a:r>
              <a:endParaRPr lang="ko-KR" altLang="en-US" sz="22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74649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366713" y="315120"/>
            <a:ext cx="5221288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프로토타입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9711" y="951065"/>
            <a:ext cx="2512100" cy="529248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6592" y="947672"/>
            <a:ext cx="1583136" cy="529574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542779" y="6243418"/>
            <a:ext cx="9573630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로딩                                               로그인                                        홈                                          지도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52" y="1011165"/>
            <a:ext cx="2506243" cy="523097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7576" y="1011165"/>
            <a:ext cx="2499635" cy="522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3440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366713" y="315120"/>
            <a:ext cx="5221288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프로토타입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10404" y="1005135"/>
            <a:ext cx="2494968" cy="524026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453915" y="6198306"/>
            <a:ext cx="9931840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인증                                               요청                    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더보기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                           포인트 내역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600" y="998310"/>
            <a:ext cx="8013571" cy="5247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9159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366713" y="315120"/>
            <a:ext cx="5221288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프로토타입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35" y="1016563"/>
            <a:ext cx="5131157" cy="5189465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8564" y="1016563"/>
            <a:ext cx="5115448" cy="518946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1453914" y="6188043"/>
            <a:ext cx="10167815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공지사항               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공지사항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상세페이지                              빵집 검색                              빵집 상세페이지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324862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/>
          <p:cNvGrpSpPr/>
          <p:nvPr/>
        </p:nvGrpSpPr>
        <p:grpSpPr>
          <a:xfrm>
            <a:off x="366712" y="315120"/>
            <a:ext cx="7024688" cy="596977"/>
            <a:chOff x="334263" y="345138"/>
            <a:chExt cx="7123809" cy="59697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프로토타입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_</a:t>
              </a:r>
              <a:r>
                <a:rPr lang="ko-KR" altLang="en-US" sz="2200" dirty="0" err="1" smtClean="0">
                  <a:latin typeface="Malgun Gothic"/>
                  <a:ea typeface="Malgun Gothic"/>
                </a:rPr>
                <a:t>마이페이지</a:t>
              </a:r>
              <a:endParaRPr lang="ko-KR" altLang="en-US" sz="2200" dirty="0">
                <a:latin typeface="Malgun Gothic"/>
                <a:ea typeface="Malgun Gothic"/>
              </a:endParaRPr>
            </a:p>
          </p:txBody>
        </p:sp>
        <p:pic>
          <p:nvPicPr>
            <p:cNvPr id="14" name="그림 13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13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664" y="981903"/>
            <a:ext cx="7946335" cy="522412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496A069-698A-AE27-EA71-CDB0164E1117}"/>
              </a:ext>
            </a:extLst>
          </p:cNvPr>
          <p:cNvSpPr txBox="1"/>
          <p:nvPr/>
        </p:nvSpPr>
        <p:spPr>
          <a:xfrm>
            <a:off x="2773076" y="6206028"/>
            <a:ext cx="7808072" cy="3537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</a:t>
            </a:r>
            <a:r>
              <a:rPr lang="ko-KR" altLang="en-US" sz="1300" b="1" dirty="0" smtClean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</a:t>
            </a:r>
            <a:r>
              <a:rPr lang="en-US" altLang="ko-KR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-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나의인증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</a:t>
            </a:r>
            <a:r>
              <a:rPr lang="ko-KR" altLang="en-US" sz="1300" b="1" dirty="0" smtClean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          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마이페이지</a:t>
            </a:r>
            <a:r>
              <a:rPr lang="ko-KR" altLang="en-US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 </a:t>
            </a:r>
            <a:r>
              <a:rPr lang="en-US" altLang="ko-KR" sz="1300" b="1" dirty="0">
                <a:solidFill>
                  <a:schemeClr val="accent5">
                    <a:lumMod val="75000"/>
                  </a:schemeClr>
                </a:solidFill>
                <a:ea typeface="맑은 고딕"/>
              </a:rPr>
              <a:t>-</a:t>
            </a:r>
            <a:r>
              <a:rPr lang="ko-KR" altLang="en-US" sz="1300" b="1" dirty="0" err="1">
                <a:solidFill>
                  <a:schemeClr val="accent5">
                    <a:lumMod val="75000"/>
                  </a:schemeClr>
                </a:solidFill>
                <a:ea typeface="맑은 고딕"/>
              </a:rPr>
              <a:t>나의리뷰</a:t>
            </a:r>
            <a:endParaRPr lang="en-US" altLang="ko-KR" sz="1300" b="1" dirty="0">
              <a:solidFill>
                <a:schemeClr val="accent5">
                  <a:lumMod val="75000"/>
                </a:schemeClr>
              </a:solidFill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1844533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912D68-365B-2FB8-4DC2-4F9E9B310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2131C5A-C1CD-62DA-1FBA-A6AC7391D76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8290" y="781704"/>
            <a:ext cx="3641008" cy="596720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419" y="1090448"/>
            <a:ext cx="5499747" cy="5658465"/>
          </a:xfrm>
          <a:prstGeom prst="rect">
            <a:avLst/>
          </a:prstGeom>
        </p:spPr>
      </p:pic>
      <p:grpSp>
        <p:nvGrpSpPr>
          <p:cNvPr id="19" name="그룹 18"/>
          <p:cNvGrpSpPr/>
          <p:nvPr/>
        </p:nvGrpSpPr>
        <p:grpSpPr>
          <a:xfrm>
            <a:off x="366713" y="315120"/>
            <a:ext cx="4141787" cy="596977"/>
            <a:chOff x="334263" y="345138"/>
            <a:chExt cx="7123809" cy="59697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05. </a:t>
              </a:r>
              <a:r>
                <a:rPr lang="en-US" altLang="ko-KR" sz="2800" b="1" dirty="0">
                  <a:latin typeface="Malgun Gothic"/>
                  <a:ea typeface="Malgun Gothic"/>
                </a:rPr>
                <a:t>UI/UX</a:t>
              </a:r>
              <a:r>
                <a:rPr lang="ko-KR" altLang="en-US" sz="2800" b="1" dirty="0">
                  <a:latin typeface="Malgun Gothic"/>
                  <a:ea typeface="Malgun Gothic"/>
                </a:rPr>
                <a:t>디자인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-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목업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21" name="그림 20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6951026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366713" y="315120"/>
            <a:ext cx="504348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06.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구현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–GPS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인증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4462" y="1138236"/>
            <a:ext cx="3571875" cy="45815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38225" y="1536172"/>
            <a:ext cx="6726237" cy="385490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300" b="1" dirty="0" smtClean="0">
                <a:latin typeface="+mj-lt"/>
                <a:ea typeface="맑은 고딕"/>
              </a:rPr>
              <a:t>GPS </a:t>
            </a:r>
            <a:r>
              <a:rPr lang="ko-KR" altLang="en-US" sz="2300" b="1" dirty="0" smtClean="0">
                <a:latin typeface="+mj-lt"/>
                <a:ea typeface="맑은 고딕"/>
              </a:rPr>
              <a:t>위치 기반 인증</a:t>
            </a:r>
            <a:endParaRPr lang="en-US" altLang="ko-KR" sz="2300" b="1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 smtClean="0">
                <a:latin typeface="+mj-lt"/>
                <a:ea typeface="맑은 고딕"/>
              </a:rPr>
              <a:t>부정 사용 방지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- </a:t>
            </a:r>
            <a:r>
              <a:rPr lang="ko-KR" altLang="en-US" sz="2000" dirty="0" smtClean="0">
                <a:latin typeface="+mj-lt"/>
                <a:ea typeface="맑은 고딕"/>
              </a:rPr>
              <a:t>위치 </a:t>
            </a:r>
            <a:r>
              <a:rPr lang="en-US" altLang="ko-KR" sz="2000" dirty="0" smtClean="0">
                <a:latin typeface="+mj-lt"/>
                <a:ea typeface="맑은 고딕"/>
              </a:rPr>
              <a:t>+ </a:t>
            </a:r>
            <a:r>
              <a:rPr lang="ko-KR" altLang="en-US" sz="2000" dirty="0" smtClean="0">
                <a:latin typeface="+mj-lt"/>
                <a:ea typeface="맑은 고딕"/>
              </a:rPr>
              <a:t>연락처 이중 인증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+mj-lt"/>
                <a:ea typeface="맑은 고딕"/>
              </a:rPr>
              <a:t>1. </a:t>
            </a:r>
            <a:r>
              <a:rPr lang="ko-KR" altLang="en-US" sz="2000" dirty="0" smtClean="0">
                <a:latin typeface="+mj-lt"/>
                <a:ea typeface="맑은 고딕"/>
              </a:rPr>
              <a:t>사용자가 인증 매장 방문 </a:t>
            </a:r>
            <a:r>
              <a:rPr lang="en-US" altLang="ko-KR" sz="2000" dirty="0" smtClean="0">
                <a:latin typeface="+mj-lt"/>
                <a:ea typeface="맑은 고딕"/>
              </a:rPr>
              <a:t>-&gt; GPS </a:t>
            </a:r>
            <a:r>
              <a:rPr lang="ko-KR" altLang="en-US" sz="2000" dirty="0" smtClean="0">
                <a:latin typeface="+mj-lt"/>
                <a:ea typeface="맑은 고딕"/>
              </a:rPr>
              <a:t>인증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+mj-lt"/>
                <a:ea typeface="맑은 고딕"/>
              </a:rPr>
              <a:t>2. </a:t>
            </a:r>
            <a:r>
              <a:rPr lang="ko-KR" altLang="en-US" sz="2000" dirty="0" smtClean="0">
                <a:latin typeface="+mj-lt"/>
                <a:ea typeface="맑은 고딕"/>
              </a:rPr>
              <a:t>바코드 스캔 </a:t>
            </a:r>
            <a:r>
              <a:rPr lang="en-US" altLang="ko-KR" sz="2000" dirty="0" smtClean="0">
                <a:latin typeface="+mj-lt"/>
                <a:ea typeface="맑은 고딕"/>
              </a:rPr>
              <a:t>-&gt; </a:t>
            </a:r>
            <a:r>
              <a:rPr lang="ko-KR" altLang="en-US" sz="2000" dirty="0" smtClean="0">
                <a:latin typeface="+mj-lt"/>
                <a:ea typeface="맑은 고딕"/>
              </a:rPr>
              <a:t>포인트 적립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+mj-lt"/>
                <a:ea typeface="맑은 고딕"/>
              </a:rPr>
              <a:t>3. </a:t>
            </a:r>
            <a:r>
              <a:rPr lang="ko-KR" altLang="en-US" sz="2000" dirty="0" smtClean="0">
                <a:latin typeface="+mj-lt"/>
                <a:ea typeface="맑은 고딕"/>
              </a:rPr>
              <a:t>포인트 사용시 바코드 스캔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  -&gt; </a:t>
            </a:r>
            <a:r>
              <a:rPr lang="ko-KR" altLang="en-US" sz="2000" dirty="0" smtClean="0">
                <a:latin typeface="+mj-lt"/>
                <a:ea typeface="맑은 고딕"/>
              </a:rPr>
              <a:t>포인트 차감 및 혜택 제공</a:t>
            </a:r>
            <a:endParaRPr lang="en-US" altLang="ko-KR" sz="2000" dirty="0">
              <a:latin typeface="+mj-lt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798455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3" y="315120"/>
            <a:ext cx="675798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06.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구현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err="1" smtClean="0">
                  <a:latin typeface="Malgun Gothic"/>
                  <a:ea typeface="Malgun Gothic"/>
                </a:rPr>
                <a:t>스템프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포인트 적립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4801" y="892883"/>
            <a:ext cx="3381098" cy="5474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38225" y="1536172"/>
            <a:ext cx="6726237" cy="44550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300" b="1" dirty="0" smtClean="0">
                <a:latin typeface="+mj-lt"/>
                <a:ea typeface="맑은 고딕"/>
              </a:rPr>
              <a:t>포인트 적립 </a:t>
            </a:r>
            <a:endParaRPr lang="en-US" altLang="ko-KR" sz="2300" b="1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 smtClean="0">
                <a:latin typeface="+mj-lt"/>
                <a:ea typeface="맑은 고딕"/>
              </a:rPr>
              <a:t>바코드로 </a:t>
            </a:r>
            <a:r>
              <a:rPr lang="en-US" altLang="ko-KR" sz="2000" dirty="0" smtClean="0">
                <a:latin typeface="+mj-lt"/>
                <a:ea typeface="맑은 고딕"/>
              </a:rPr>
              <a:t>2</a:t>
            </a:r>
            <a:r>
              <a:rPr lang="ko-KR" altLang="en-US" sz="2000" dirty="0" smtClean="0">
                <a:latin typeface="+mj-lt"/>
                <a:ea typeface="맑은 고딕"/>
              </a:rPr>
              <a:t>차 인증과 동시에 포인트 적립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 smtClean="0">
                <a:ea typeface="맑은 고딕"/>
              </a:rPr>
              <a:t>포인트 사용 </a:t>
            </a:r>
            <a:endParaRPr lang="en-US" altLang="ko-KR" sz="2300" b="1" dirty="0" smtClean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ea typeface="맑은 고딕"/>
              </a:rPr>
              <a:t> </a:t>
            </a:r>
            <a:r>
              <a:rPr lang="en-US" altLang="ko-KR" sz="2000" dirty="0">
                <a:ea typeface="맑은 고딕"/>
              </a:rPr>
              <a:t>- </a:t>
            </a:r>
            <a:r>
              <a:rPr lang="ko-KR" altLang="en-US" sz="2000" dirty="0" smtClean="0">
                <a:ea typeface="맑은 고딕"/>
              </a:rPr>
              <a:t>바코드 스캔 후 포인트 차감</a:t>
            </a:r>
            <a:endParaRPr lang="en-US" altLang="ko-KR" sz="2000" dirty="0"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 smtClean="0">
                <a:ea typeface="맑은 고딕"/>
              </a:rPr>
              <a:t>스탬프 적립 </a:t>
            </a:r>
            <a:r>
              <a:rPr lang="en-US" altLang="ko-KR" sz="1700" dirty="0" smtClean="0">
                <a:ea typeface="맑은 고딕"/>
              </a:rPr>
              <a:t>(</a:t>
            </a:r>
            <a:r>
              <a:rPr lang="ko-KR" altLang="en-US" sz="1700" dirty="0" smtClean="0">
                <a:ea typeface="맑은 고딕"/>
              </a:rPr>
              <a:t>재방문 유도</a:t>
            </a:r>
            <a:r>
              <a:rPr lang="en-US" altLang="ko-KR" sz="1700" dirty="0" smtClean="0">
                <a:ea typeface="맑은 고딕"/>
              </a:rPr>
              <a:t>)</a:t>
            </a:r>
            <a:r>
              <a:rPr lang="ko-KR" altLang="en-US" sz="1700" dirty="0" smtClean="0">
                <a:ea typeface="맑은 고딕"/>
              </a:rPr>
              <a:t> </a:t>
            </a:r>
            <a:endParaRPr lang="en-US" altLang="ko-KR" sz="1700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ea typeface="맑은 고딕"/>
              </a:rPr>
              <a:t> </a:t>
            </a:r>
            <a:r>
              <a:rPr lang="en-US" altLang="ko-KR" sz="2000" dirty="0">
                <a:ea typeface="맑은 고딕"/>
              </a:rPr>
              <a:t>- </a:t>
            </a:r>
            <a:r>
              <a:rPr lang="ko-KR" altLang="en-US" sz="2000" dirty="0" smtClean="0">
                <a:ea typeface="맑은 고딕"/>
              </a:rPr>
              <a:t>인증 </a:t>
            </a:r>
            <a:r>
              <a:rPr lang="en-US" altLang="ko-KR" sz="2000" dirty="0" smtClean="0">
                <a:ea typeface="맑은 고딕"/>
              </a:rPr>
              <a:t>1</a:t>
            </a:r>
            <a:r>
              <a:rPr lang="ko-KR" altLang="en-US" sz="2000" dirty="0" smtClean="0">
                <a:ea typeface="맑은 고딕"/>
              </a:rPr>
              <a:t>회마다 스탬프 </a:t>
            </a:r>
            <a:r>
              <a:rPr lang="en-US" altLang="ko-KR" sz="2000" dirty="0" smtClean="0">
                <a:ea typeface="맑은 고딕"/>
              </a:rPr>
              <a:t>1</a:t>
            </a:r>
            <a:r>
              <a:rPr lang="ko-KR" altLang="en-US" sz="2000" dirty="0" smtClean="0">
                <a:ea typeface="맑은 고딕"/>
              </a:rPr>
              <a:t>개 지급</a:t>
            </a:r>
            <a:endParaRPr lang="en-US" altLang="ko-KR" sz="2000" dirty="0" smtClean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- 5</a:t>
            </a:r>
            <a:r>
              <a:rPr lang="ko-KR" altLang="en-US" sz="2000" dirty="0" smtClean="0">
                <a:latin typeface="+mj-lt"/>
                <a:ea typeface="맑은 고딕"/>
              </a:rPr>
              <a:t>회 달성 시 추가 포인트 적립</a:t>
            </a:r>
            <a:endParaRPr lang="en-US" altLang="ko-KR" sz="2000" dirty="0">
              <a:latin typeface="+mj-lt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0005264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3" y="315120"/>
            <a:ext cx="584358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06.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프로젝트 구현 </a:t>
              </a:r>
              <a:r>
                <a:rPr lang="en-US" altLang="ko-KR" sz="2800" b="1" dirty="0" smtClean="0">
                  <a:latin typeface="Malgun Gothic"/>
                  <a:ea typeface="Malgun Gothic"/>
                </a:rPr>
                <a:t>–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소상공인 신청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74100" y="276036"/>
            <a:ext cx="2809875" cy="628841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7674" y="2549605"/>
            <a:ext cx="3146425" cy="36575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539D3A-8F71-D3CA-5B67-BAFC55C2FC3C}"/>
              </a:ext>
            </a:extLst>
          </p:cNvPr>
          <p:cNvSpPr txBox="1"/>
          <p:nvPr/>
        </p:nvSpPr>
        <p:spPr>
          <a:xfrm>
            <a:off x="1038225" y="1536172"/>
            <a:ext cx="4489449" cy="39241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300" b="1" dirty="0" smtClean="0">
                <a:latin typeface="+mj-lt"/>
                <a:ea typeface="맑은 고딕"/>
              </a:rPr>
              <a:t>신청 대상 </a:t>
            </a:r>
            <a:endParaRPr lang="en-US" altLang="ko-KR" sz="2300" b="1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 smtClean="0">
                <a:latin typeface="+mj-lt"/>
                <a:ea typeface="맑은 고딕"/>
              </a:rPr>
              <a:t> </a:t>
            </a:r>
            <a:r>
              <a:rPr lang="en-US" altLang="ko-KR" sz="2000" dirty="0">
                <a:latin typeface="+mj-lt"/>
                <a:ea typeface="맑은 고딕"/>
              </a:rPr>
              <a:t>- </a:t>
            </a:r>
            <a:r>
              <a:rPr lang="ko-KR" altLang="en-US" sz="2000" dirty="0" err="1" smtClean="0">
                <a:latin typeface="+mj-lt"/>
                <a:ea typeface="맑은 고딕"/>
              </a:rPr>
              <a:t>빵지순례와</a:t>
            </a:r>
            <a:r>
              <a:rPr lang="ko-KR" altLang="en-US" sz="2000" dirty="0" smtClean="0">
                <a:latin typeface="+mj-lt"/>
                <a:ea typeface="맑은 고딕"/>
              </a:rPr>
              <a:t> 제휴를 원하는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  </a:t>
            </a:r>
            <a:r>
              <a:rPr lang="ko-KR" altLang="en-US" sz="2000" dirty="0" smtClean="0">
                <a:latin typeface="+mj-lt"/>
                <a:ea typeface="맑은 고딕"/>
              </a:rPr>
              <a:t>지역 소상공인 베이커리</a:t>
            </a:r>
            <a:r>
              <a:rPr lang="en-US" altLang="ko-KR" sz="2000" dirty="0" smtClean="0">
                <a:latin typeface="+mj-lt"/>
                <a:ea typeface="맑은 고딕"/>
              </a:rPr>
              <a:t>/</a:t>
            </a:r>
            <a:r>
              <a:rPr lang="ko-KR" altLang="en-US" sz="2000" dirty="0" smtClean="0">
                <a:latin typeface="+mj-lt"/>
                <a:ea typeface="맑은 고딕"/>
              </a:rPr>
              <a:t>카페 등</a:t>
            </a:r>
            <a:endParaRPr lang="en-US" altLang="ko-KR" sz="2000" dirty="0" smtClean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endParaRPr lang="en-US" altLang="ko-KR" sz="2000" dirty="0">
              <a:latin typeface="+mj-lt"/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300" b="1" dirty="0" smtClean="0">
                <a:ea typeface="맑은 고딕"/>
              </a:rPr>
              <a:t>목적</a:t>
            </a:r>
            <a:r>
              <a:rPr lang="ko-KR" altLang="en-US" sz="2000" b="1" dirty="0" smtClean="0">
                <a:ea typeface="맑은 고딕"/>
              </a:rPr>
              <a:t> </a:t>
            </a:r>
            <a:endParaRPr lang="en-US" altLang="ko-KR" sz="2000" b="1" dirty="0">
              <a:ea typeface="맑은 고딕"/>
            </a:endParaRPr>
          </a:p>
          <a:p>
            <a:pPr>
              <a:lnSpc>
                <a:spcPct val="150000"/>
              </a:lnSpc>
            </a:pPr>
            <a:r>
              <a:rPr lang="ko-KR" altLang="en-US" sz="2000" dirty="0">
                <a:ea typeface="맑은 고딕"/>
              </a:rPr>
              <a:t> </a:t>
            </a:r>
            <a:r>
              <a:rPr lang="en-US" altLang="ko-KR" sz="2000" dirty="0">
                <a:ea typeface="맑은 고딕"/>
              </a:rPr>
              <a:t>- </a:t>
            </a:r>
            <a:r>
              <a:rPr lang="ko-KR" altLang="en-US" sz="2000" dirty="0" smtClean="0">
                <a:ea typeface="맑은 고딕"/>
              </a:rPr>
              <a:t>소상공인의 신규 고객 유입</a:t>
            </a:r>
            <a:r>
              <a:rPr lang="en-US" altLang="ko-KR" sz="2000" dirty="0" smtClean="0">
                <a:ea typeface="맑은 고딕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  </a:t>
            </a:r>
            <a:r>
              <a:rPr lang="ko-KR" altLang="en-US" sz="2000" dirty="0" smtClean="0">
                <a:latin typeface="+mj-lt"/>
                <a:ea typeface="맑은 고딕"/>
              </a:rPr>
              <a:t>다양한 이벤트</a:t>
            </a:r>
            <a:r>
              <a:rPr lang="en-US" altLang="ko-KR" sz="2000" dirty="0" smtClean="0">
                <a:latin typeface="+mj-lt"/>
                <a:ea typeface="맑은 고딕"/>
              </a:rPr>
              <a:t>/</a:t>
            </a:r>
            <a:r>
              <a:rPr lang="ko-KR" altLang="en-US" sz="2000" dirty="0" smtClean="0">
                <a:latin typeface="+mj-lt"/>
                <a:ea typeface="맑은 고딕"/>
              </a:rPr>
              <a:t>프로모션 제공</a:t>
            </a:r>
            <a:r>
              <a:rPr lang="en-US" altLang="ko-KR" sz="2000" dirty="0" smtClean="0">
                <a:latin typeface="+mj-lt"/>
                <a:ea typeface="맑은 고딕"/>
              </a:rPr>
              <a:t>,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+mj-lt"/>
                <a:ea typeface="맑은 고딕"/>
              </a:rPr>
              <a:t> </a:t>
            </a:r>
            <a:r>
              <a:rPr lang="en-US" altLang="ko-KR" sz="2000" dirty="0" smtClean="0">
                <a:latin typeface="+mj-lt"/>
                <a:ea typeface="맑은 고딕"/>
              </a:rPr>
              <a:t>  </a:t>
            </a:r>
            <a:r>
              <a:rPr lang="ko-KR" altLang="en-US" sz="2000" dirty="0" smtClean="0">
                <a:latin typeface="+mj-lt"/>
                <a:ea typeface="맑은 고딕"/>
              </a:rPr>
              <a:t>앱 내 상점 노출 기회 확대</a:t>
            </a:r>
            <a:endParaRPr lang="en-US" altLang="ko-KR" sz="2000" dirty="0" smtClean="0">
              <a:latin typeface="+mj-lt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0311330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3" y="315120"/>
            <a:ext cx="2528887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8" y="345138"/>
              <a:ext cx="7067114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07.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시연 영상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2363509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D3F54F-5EED-987D-FBDE-A1858A9EA05A}"/>
              </a:ext>
            </a:extLst>
          </p:cNvPr>
          <p:cNvSpPr txBox="1"/>
          <p:nvPr/>
        </p:nvSpPr>
        <p:spPr>
          <a:xfrm>
            <a:off x="871537" y="1972507"/>
            <a:ext cx="10448924" cy="3108543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AutoNum type="arabicPeriod"/>
            </a:pPr>
            <a:r>
              <a:rPr lang="ko-KR" altLang="en-US" sz="2800" b="1" dirty="0">
                <a:ea typeface="맑은 고딕"/>
              </a:rPr>
              <a:t>알림 기능 활성화</a:t>
            </a: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r>
              <a:rPr lang="ko-KR" altLang="en-US" sz="2800" b="1" dirty="0">
                <a:ea typeface="맑은 고딕"/>
              </a:rPr>
              <a:t>가맹점 등록 확장 및 이에 따라 같은 가맹점 스탬프 중복 제거 </a:t>
            </a: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r>
              <a:rPr lang="ko-KR" altLang="en-US" sz="2800" b="1" dirty="0">
                <a:ea typeface="맑은 고딕"/>
              </a:rPr>
              <a:t>커뮤니티 추가</a:t>
            </a: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endParaRPr lang="en-US" altLang="ko-KR" sz="2800" b="1" dirty="0">
              <a:ea typeface="맑은 고딕"/>
            </a:endParaRPr>
          </a:p>
          <a:p>
            <a:pPr marL="342900" indent="-342900">
              <a:buAutoNum type="arabicPeriod"/>
            </a:pPr>
            <a:r>
              <a:rPr lang="ko-KR" altLang="en-US" sz="2800" b="1" dirty="0">
                <a:ea typeface="맑은 고딕"/>
              </a:rPr>
              <a:t>디자인 개선</a:t>
            </a:r>
            <a:endParaRPr lang="en-US" altLang="ko-KR" sz="2800" b="1" dirty="0">
              <a:ea typeface="맑은 고딕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7EA1DD92-D135-49B6-C4F9-1DF4E363A5D7}"/>
              </a:ext>
            </a:extLst>
          </p:cNvPr>
          <p:cNvGrpSpPr/>
          <p:nvPr/>
        </p:nvGrpSpPr>
        <p:grpSpPr>
          <a:xfrm>
            <a:off x="361583" y="358922"/>
            <a:ext cx="3570337" cy="596977"/>
            <a:chOff x="334263" y="345138"/>
            <a:chExt cx="7123809" cy="59697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4CF1F5-CB09-1838-530A-9E880F846414}"/>
                </a:ext>
              </a:extLst>
            </p:cNvPr>
            <p:cNvSpPr txBox="1"/>
            <p:nvPr/>
          </p:nvSpPr>
          <p:spPr>
            <a:xfrm>
              <a:off x="390959" y="345138"/>
              <a:ext cx="7067113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>
                  <a:latin typeface="Malgun Gothic"/>
                  <a:ea typeface="Malgun Gothic"/>
                </a:rPr>
                <a:t>08. </a:t>
              </a:r>
              <a:r>
                <a:rPr lang="ko-KR" altLang="en-US" sz="2800" b="1" dirty="0">
                  <a:latin typeface="Malgun Gothic"/>
                  <a:ea typeface="Malgun Gothic"/>
                </a:rPr>
                <a:t>추후 보안 사항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02932A67-7B7E-DB33-3DB0-F148AE2FE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1733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5C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1FF2EE-1B65-5724-9235-A606288D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0F632F91-5EAD-F1C9-4AAE-C9310A6A0D8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6712" y="259556"/>
            <a:ext cx="11458575" cy="6338887"/>
          </a:xfrm>
          <a:prstGeom prst="rect">
            <a:avLst/>
          </a:prstGeom>
          <a:solidFill>
            <a:srgbClr val="F6F1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366713" y="315120"/>
            <a:ext cx="3887235" cy="596977"/>
            <a:chOff x="334263" y="345138"/>
            <a:chExt cx="7123809" cy="59697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390957" y="345138"/>
              <a:ext cx="7067115" cy="52322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altLang="ko-KR" sz="2800" b="1" dirty="0" smtClean="0">
                  <a:latin typeface="Malgun Gothic"/>
                  <a:ea typeface="Malgun Gothic"/>
                </a:rPr>
                <a:t>09. </a:t>
              </a:r>
              <a:r>
                <a:rPr lang="ko-KR" altLang="en-US" sz="2800" b="1" dirty="0" smtClean="0">
                  <a:latin typeface="Malgun Gothic"/>
                  <a:ea typeface="Malgun Gothic"/>
                </a:rPr>
                <a:t>자체 평가 및 소감</a:t>
              </a:r>
              <a:endParaRPr lang="ko-KR" altLang="en-US" sz="2800" dirty="0">
                <a:latin typeface="Malgun Gothic"/>
                <a:ea typeface="Malgun Gothic"/>
              </a:endParaRPr>
            </a:p>
          </p:txBody>
        </p:sp>
        <p:pic>
          <p:nvPicPr>
            <p:cNvPr id="6" name="그림 5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4263" y="827829"/>
              <a:ext cx="7123809" cy="114286"/>
            </a:xfrm>
            <a:prstGeom prst="rect">
              <a:avLst/>
            </a:prstGeom>
          </p:spPr>
        </p:pic>
      </p:grpSp>
      <p:grpSp>
        <p:nvGrpSpPr>
          <p:cNvPr id="2" name="그룹 1"/>
          <p:cNvGrpSpPr/>
          <p:nvPr/>
        </p:nvGrpSpPr>
        <p:grpSpPr>
          <a:xfrm>
            <a:off x="616226" y="1638300"/>
            <a:ext cx="3510722" cy="4432301"/>
            <a:chOff x="743226" y="1854201"/>
            <a:chExt cx="3510722" cy="421640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1625232" y="2023365"/>
              <a:ext cx="2384677" cy="477054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500" b="1" dirty="0" err="1">
                  <a:latin typeface="Malgun Gothic"/>
                  <a:ea typeface="Malgun Gothic"/>
                </a:rPr>
                <a:t>오호준</a:t>
              </a:r>
              <a:r>
                <a:rPr lang="ko-KR" altLang="en-US" b="1" dirty="0">
                  <a:latin typeface="Malgun Gothic"/>
                  <a:ea typeface="Malgun Gothic"/>
                </a:rPr>
                <a:t> </a:t>
              </a:r>
              <a:r>
                <a:rPr lang="ko-KR" altLang="en-US" b="1" dirty="0" smtClean="0">
                  <a:latin typeface="Malgun Gothic"/>
                  <a:ea typeface="Malgun Gothic"/>
                </a:rPr>
                <a:t>팀장</a:t>
              </a:r>
              <a:endParaRPr lang="ko-KR" altLang="en-US" b="1" dirty="0">
                <a:latin typeface="Malgun Gothic"/>
                <a:ea typeface="Malgun Gothic"/>
              </a:endParaRPr>
            </a:p>
          </p:txBody>
        </p:sp>
        <p:sp>
          <p:nvSpPr>
            <p:cNvPr id="18" name="모서리가 둥근 직사각형 17"/>
            <p:cNvSpPr/>
            <p:nvPr/>
          </p:nvSpPr>
          <p:spPr>
            <a:xfrm>
              <a:off x="743226" y="1854201"/>
              <a:ext cx="3510722" cy="4216400"/>
            </a:xfrm>
            <a:prstGeom prst="roundRect">
              <a:avLst/>
            </a:prstGeom>
            <a:noFill/>
            <a:ln w="76200">
              <a:solidFill>
                <a:srgbClr val="BA8F5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/>
          <p:cNvGrpSpPr/>
          <p:nvPr/>
        </p:nvGrpSpPr>
        <p:grpSpPr>
          <a:xfrm>
            <a:off x="8073265" y="1638300"/>
            <a:ext cx="3510722" cy="4432301"/>
            <a:chOff x="743226" y="1854201"/>
            <a:chExt cx="3510722" cy="421640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1625232" y="2023365"/>
              <a:ext cx="2384677" cy="45381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500" b="1" dirty="0" err="1" smtClean="0">
                  <a:latin typeface="Malgun Gothic"/>
                  <a:ea typeface="Malgun Gothic"/>
                </a:rPr>
                <a:t>박미연</a:t>
              </a:r>
              <a:r>
                <a:rPr lang="ko-KR" altLang="en-US" b="1" dirty="0" smtClean="0">
                  <a:latin typeface="Malgun Gothic"/>
                  <a:ea typeface="Malgun Gothic"/>
                </a:rPr>
                <a:t> 팀원</a:t>
              </a:r>
              <a:endParaRPr lang="ko-KR" altLang="en-US" b="1" dirty="0">
                <a:latin typeface="Malgun Gothic"/>
                <a:ea typeface="Malgun Gothic"/>
              </a:endParaRPr>
            </a:p>
          </p:txBody>
        </p:sp>
        <p:sp>
          <p:nvSpPr>
            <p:cNvPr id="23" name="모서리가 둥근 직사각형 22"/>
            <p:cNvSpPr/>
            <p:nvPr/>
          </p:nvSpPr>
          <p:spPr>
            <a:xfrm>
              <a:off x="743226" y="1854201"/>
              <a:ext cx="3510722" cy="4216400"/>
            </a:xfrm>
            <a:prstGeom prst="roundRect">
              <a:avLst/>
            </a:prstGeom>
            <a:noFill/>
            <a:ln w="76200">
              <a:solidFill>
                <a:srgbClr val="BA8F5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4" name="그룹 23"/>
          <p:cNvGrpSpPr/>
          <p:nvPr/>
        </p:nvGrpSpPr>
        <p:grpSpPr>
          <a:xfrm>
            <a:off x="4342848" y="1638300"/>
            <a:ext cx="3510722" cy="4432301"/>
            <a:chOff x="743226" y="1854201"/>
            <a:chExt cx="3510722" cy="421640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BFF06881-F8A1-B1E8-2E45-B741FD8B0366}"/>
                </a:ext>
              </a:extLst>
            </p:cNvPr>
            <p:cNvSpPr txBox="1"/>
            <p:nvPr/>
          </p:nvSpPr>
          <p:spPr>
            <a:xfrm>
              <a:off x="1625232" y="2023365"/>
              <a:ext cx="2384677" cy="45381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ko-KR" altLang="en-US" sz="2500" b="1" dirty="0" err="1" smtClean="0">
                  <a:latin typeface="Malgun Gothic"/>
                  <a:ea typeface="Malgun Gothic"/>
                </a:rPr>
                <a:t>성보경</a:t>
              </a:r>
              <a:r>
                <a:rPr lang="ko-KR" altLang="en-US" b="1" dirty="0" smtClean="0">
                  <a:latin typeface="Malgun Gothic"/>
                  <a:ea typeface="Malgun Gothic"/>
                </a:rPr>
                <a:t> 팀원</a:t>
              </a:r>
              <a:endParaRPr lang="ko-KR" altLang="en-US" b="1" dirty="0">
                <a:latin typeface="Malgun Gothic"/>
                <a:ea typeface="Malgun Gothic"/>
              </a:endParaRPr>
            </a:p>
          </p:txBody>
        </p:sp>
        <p:sp>
          <p:nvSpPr>
            <p:cNvPr id="26" name="모서리가 둥근 직사각형 25"/>
            <p:cNvSpPr/>
            <p:nvPr/>
          </p:nvSpPr>
          <p:spPr>
            <a:xfrm>
              <a:off x="743226" y="1854201"/>
              <a:ext cx="3510722" cy="4216400"/>
            </a:xfrm>
            <a:prstGeom prst="roundRect">
              <a:avLst/>
            </a:prstGeom>
            <a:noFill/>
            <a:ln w="76200">
              <a:solidFill>
                <a:srgbClr val="BA8F5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FF06881-F8A1-B1E8-2E45-B741FD8B0366}"/>
              </a:ext>
            </a:extLst>
          </p:cNvPr>
          <p:cNvSpPr txBox="1"/>
          <p:nvPr/>
        </p:nvSpPr>
        <p:spPr>
          <a:xfrm>
            <a:off x="8356222" y="2471006"/>
            <a:ext cx="2983726" cy="332398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500" dirty="0" err="1"/>
              <a:t>빵지순례</a:t>
            </a:r>
            <a:r>
              <a:rPr lang="ko-KR" altLang="en-US" sz="1500" dirty="0"/>
              <a:t> 앱을 개발하며 </a:t>
            </a:r>
            <a:r>
              <a:rPr lang="en-US" altLang="ko-KR" sz="1500" dirty="0"/>
              <a:t>GPS </a:t>
            </a:r>
            <a:r>
              <a:rPr lang="ko-KR" altLang="en-US" sz="1500" dirty="0"/>
              <a:t>인증과 스탬프 투어 기능을 결합하는 과정이 매우 의미 있었던 경험이었습니다</a:t>
            </a:r>
            <a:r>
              <a:rPr lang="en-US" altLang="ko-KR" sz="1500" dirty="0"/>
              <a:t>. </a:t>
            </a:r>
            <a:endParaRPr lang="en-US" altLang="ko-KR" sz="1500" dirty="0" smtClean="0"/>
          </a:p>
          <a:p>
            <a:endParaRPr lang="en-US" altLang="ko-KR" sz="1500" dirty="0" smtClean="0"/>
          </a:p>
          <a:p>
            <a:r>
              <a:rPr lang="ko-KR" altLang="en-US" sz="1500" dirty="0" smtClean="0"/>
              <a:t>기획부터 </a:t>
            </a:r>
            <a:r>
              <a:rPr lang="ko-KR" altLang="en-US" sz="1500" dirty="0"/>
              <a:t>개발</a:t>
            </a:r>
            <a:r>
              <a:rPr lang="en-US" altLang="ko-KR" sz="1500" dirty="0"/>
              <a:t>, </a:t>
            </a:r>
            <a:r>
              <a:rPr lang="ko-KR" altLang="en-US" sz="1500" dirty="0"/>
              <a:t>디자인</a:t>
            </a:r>
            <a:r>
              <a:rPr lang="en-US" altLang="ko-KR" sz="1500" dirty="0"/>
              <a:t>, </a:t>
            </a:r>
            <a:r>
              <a:rPr lang="ko-KR" altLang="en-US" sz="1500" dirty="0" smtClean="0"/>
              <a:t>사용자 </a:t>
            </a:r>
            <a:r>
              <a:rPr lang="ko-KR" altLang="en-US" sz="1500" dirty="0"/>
              <a:t>경험까지 직접 고민하고 도전하는 과정에서 많은 것을 배우고 스스로 부족함도 느꼈습니다</a:t>
            </a:r>
            <a:r>
              <a:rPr lang="en-US" altLang="ko-KR" sz="1500" dirty="0" smtClean="0"/>
              <a:t>.</a:t>
            </a:r>
          </a:p>
          <a:p>
            <a:r>
              <a:rPr lang="ko-KR" altLang="en-US" sz="1500" dirty="0"/>
              <a:t/>
            </a:r>
            <a:br>
              <a:rPr lang="ko-KR" altLang="en-US" sz="1500" dirty="0"/>
            </a:br>
            <a:r>
              <a:rPr lang="ko-KR" altLang="en-US" sz="1500" dirty="0"/>
              <a:t>이번 경험을 통해 앞으로 더 나은 서비스와 편리한 기능을 제공하기 위해 꾸준한 노력이 필요함을 다시 한번 깨달았습니다</a:t>
            </a:r>
            <a:r>
              <a:rPr lang="en-US" altLang="ko-KR" sz="1500" dirty="0"/>
              <a:t>.</a:t>
            </a:r>
            <a:endParaRPr lang="ko-KR" altLang="en-US" sz="1500" dirty="0">
              <a:latin typeface="Malgun Gothic"/>
              <a:ea typeface="Malgun Gothic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763FD-3C87-6546-F0FB-F2A05F99B8E2}"/>
              </a:ext>
            </a:extLst>
          </p:cNvPr>
          <p:cNvSpPr txBox="1"/>
          <p:nvPr/>
        </p:nvSpPr>
        <p:spPr>
          <a:xfrm>
            <a:off x="848140" y="2466519"/>
            <a:ext cx="3034770" cy="309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/>
              <a:t>프로젝트 제작에 있어 더 꼼꼼히 기획을 하고 개발을 하고 싶다는 생각과 다르게 정해진 기간에 많은 기능을 추가하고 개발을 하다 보니 시간의 부족함을 느꼈지만 팀원분들과 함께 협력하여 잘 마무리 할 수 있었습니다</a:t>
            </a:r>
            <a:r>
              <a:rPr lang="en-US" altLang="ko-KR" sz="1500" dirty="0"/>
              <a:t>.</a:t>
            </a:r>
          </a:p>
          <a:p>
            <a:endParaRPr lang="en-US" altLang="ko-KR" sz="1500" dirty="0"/>
          </a:p>
          <a:p>
            <a:r>
              <a:rPr lang="ko-KR" altLang="en-US" sz="1500" dirty="0"/>
              <a:t>이번 프로젝트에서 부족했던 부분의 경험을 보안하여 향후에는 더 좋은 개발을 할 수 있다고 생각하며 값진 경험을 했다고 생각합니다</a:t>
            </a:r>
            <a:r>
              <a:rPr lang="en-US" altLang="ko-KR" sz="1500" dirty="0"/>
              <a:t>.</a:t>
            </a:r>
            <a:endParaRPr lang="ko-KR" altLang="en-US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F06881-F8A1-B1E8-2E45-B741FD8B0366}"/>
              </a:ext>
            </a:extLst>
          </p:cNvPr>
          <p:cNvSpPr txBox="1"/>
          <p:nvPr/>
        </p:nvSpPr>
        <p:spPr>
          <a:xfrm>
            <a:off x="4604136" y="2466519"/>
            <a:ext cx="2983726" cy="21698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ko-KR" altLang="en-US" sz="1500" dirty="0"/>
              <a:t>짧은 기간에 많은 기능을 넣느라 힘들었지만 </a:t>
            </a:r>
            <a:r>
              <a:rPr lang="ko-KR" altLang="en-US" sz="1500" dirty="0" err="1"/>
              <a:t>팀원분들의</a:t>
            </a:r>
            <a:r>
              <a:rPr lang="ko-KR" altLang="en-US" sz="1500" dirty="0"/>
              <a:t> 도움 덕분에 무사히 완성할 수 있었습니다</a:t>
            </a:r>
            <a:r>
              <a:rPr lang="en-US" altLang="ko-KR" sz="1500" dirty="0"/>
              <a:t>. </a:t>
            </a:r>
            <a:endParaRPr lang="en-US" altLang="ko-KR" sz="1500" dirty="0" smtClean="0"/>
          </a:p>
          <a:p>
            <a:r>
              <a:rPr lang="ko-KR" altLang="en-US" sz="1500" dirty="0" smtClean="0"/>
              <a:t>그리고 </a:t>
            </a:r>
            <a:r>
              <a:rPr lang="ko-KR" altLang="en-US" sz="1500" dirty="0"/>
              <a:t>무료로 배포되는 사이트는 웹에서는 괜찮았는데</a:t>
            </a:r>
            <a:r>
              <a:rPr lang="en-US" altLang="ko-KR" sz="1500" dirty="0"/>
              <a:t>, </a:t>
            </a:r>
            <a:r>
              <a:rPr lang="ko-KR" altLang="en-US" sz="1500" dirty="0"/>
              <a:t>앱에서 확인해 보니 로딩이 너무 오래 걸려서 사용할 수 없겠다는 것을 알게 되었습니다</a:t>
            </a:r>
            <a:r>
              <a:rPr lang="en-US" altLang="ko-KR" sz="1500" dirty="0"/>
              <a:t>.</a:t>
            </a:r>
            <a:endParaRPr lang="ko-KR" altLang="en-US" sz="1500" dirty="0">
              <a:latin typeface="Malgun Gothic"/>
              <a:ea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639850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EAE4E-E189-5F01-ABC5-8F9464F6B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그룹 39">
            <a:extLst>
              <a:ext uri="{FF2B5EF4-FFF2-40B4-BE49-F238E27FC236}">
                <a16:creationId xmlns:a16="http://schemas.microsoft.com/office/drawing/2014/main" id="{574FC361-7BBF-C9D3-9B54-E0A5C3522B1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C176025E-F066-69EE-511C-0C5D559226E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6595207"/>
              <a:ext cx="12192000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43C07577-8503-30DD-5461-151F9B5E92A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262793"/>
              <a:ext cx="12192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44A03931-44A7-6B02-97E8-1FBE5DFA7FEB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69764" y="0"/>
              <a:ext cx="0" cy="685800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CD21F40A-8290-3B07-DA65-DA211A92750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1829075" y="0"/>
              <a:ext cx="0" cy="6858000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5F6DF89F-0B8B-94D8-8FBB-57DA82FC8D66}"/>
              </a:ext>
            </a:extLst>
          </p:cNvPr>
          <p:cNvSpPr txBox="1"/>
          <p:nvPr/>
        </p:nvSpPr>
        <p:spPr>
          <a:xfrm>
            <a:off x="3170252" y="2613392"/>
            <a:ext cx="5851496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altLang="ko-KR" sz="10000" b="1" dirty="0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Q &amp; A</a:t>
            </a:r>
            <a:endParaRPr lang="ko-KR" sz="10000" b="1" dirty="0">
              <a:solidFill>
                <a:srgbClr val="5D3525"/>
              </a:solidFill>
              <a:latin typeface="HY목각파임B" panose="02030600000101010101" pitchFamily="18" charset="-127"/>
              <a:ea typeface="HY목각파임B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5422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112B0-7495-BBD5-E021-56A82EB0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그룹 39">
            <a:extLst>
              <a:ext uri="{FF2B5EF4-FFF2-40B4-BE49-F238E27FC236}">
                <a16:creationId xmlns:a16="http://schemas.microsoft.com/office/drawing/2014/main" id="{724836E4-EE9C-CFB0-7C9A-05AA5B2A3FC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34" name="직선 연결선 33">
              <a:extLst>
                <a:ext uri="{FF2B5EF4-FFF2-40B4-BE49-F238E27FC236}">
                  <a16:creationId xmlns:a16="http://schemas.microsoft.com/office/drawing/2014/main" id="{B679DC1E-17B7-8DCB-8FF3-02A61B0CD1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6595207"/>
              <a:ext cx="12192000" cy="0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A082670A-3066-492E-397A-4FB2AE443A5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0" y="262793"/>
              <a:ext cx="12192000" cy="0"/>
            </a:xfrm>
            <a:prstGeom prst="line">
              <a:avLst/>
            </a:prstGeom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6D74C5CB-BA93-ADC1-F347-783E6BA52A4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369764" y="0"/>
              <a:ext cx="0" cy="6858000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91853FEA-F8B2-A191-07C6-7132B5103F3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11829075" y="0"/>
              <a:ext cx="0" cy="6858000"/>
            </a:xfrm>
            <a:prstGeom prst="line">
              <a:avLst/>
            </a:prstGeom>
            <a:ln w="158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86786A3-AEAF-F1F6-5987-138B398E1C61}"/>
              </a:ext>
            </a:extLst>
          </p:cNvPr>
          <p:cNvSpPr txBox="1"/>
          <p:nvPr/>
        </p:nvSpPr>
        <p:spPr>
          <a:xfrm>
            <a:off x="2873870" y="2613392"/>
            <a:ext cx="6444259" cy="163121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ko-KR" altLang="en-US" sz="10000" b="1">
                <a:solidFill>
                  <a:srgbClr val="5D3525"/>
                </a:solidFill>
                <a:latin typeface="HY목각파임B" panose="02030600000101010101" pitchFamily="18" charset="-127"/>
                <a:ea typeface="HY목각파임B" panose="02030600000101010101" pitchFamily="18" charset="-127"/>
              </a:rPr>
              <a:t>감사합니다</a:t>
            </a:r>
            <a:endParaRPr lang="ko-KR" sz="10000" b="1" dirty="0">
              <a:solidFill>
                <a:srgbClr val="5D3525"/>
              </a:solidFill>
              <a:latin typeface="HY목각파임B" panose="02030600000101010101" pitchFamily="18" charset="-127"/>
              <a:ea typeface="HY목각파임B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59069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1243</TotalTime>
  <Words>1176</Words>
  <Application>Microsoft Office PowerPoint</Application>
  <PresentationFormat>와이드스크린</PresentationFormat>
  <Paragraphs>271</Paragraphs>
  <Slides>33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39" baseType="lpstr">
      <vt:lpstr>HY목각파임B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/>
  <cp:lastModifiedBy>YJ</cp:lastModifiedBy>
  <cp:revision>793</cp:revision>
  <dcterms:created xsi:type="dcterms:W3CDTF">2025-07-02T04:53:40Z</dcterms:created>
  <dcterms:modified xsi:type="dcterms:W3CDTF">2025-07-23T07:42:48Z</dcterms:modified>
</cp:coreProperties>
</file>
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87" r:id="rId3"/>
    <p:sldId id="286" r:id="rId4"/>
    <p:sldId id="295" r:id="rId5"/>
    <p:sldId id="303" r:id="rId6"/>
    <p:sldId id="296" r:id="rId7"/>
    <p:sldId id="327" r:id="rId8"/>
    <p:sldId id="308" r:id="rId9"/>
    <p:sldId id="307" r:id="rId10"/>
    <p:sldId id="293" r:id="rId11"/>
    <p:sldId id="294" r:id="rId12"/>
    <p:sldId id="310" r:id="rId13"/>
    <p:sldId id="291" r:id="rId14"/>
    <p:sldId id="326" r:id="rId15"/>
    <p:sldId id="288" r:id="rId16"/>
    <p:sldId id="331" r:id="rId17"/>
    <p:sldId id="311" r:id="rId18"/>
    <p:sldId id="312" r:id="rId19"/>
    <p:sldId id="315" r:id="rId20"/>
    <p:sldId id="316" r:id="rId21"/>
    <p:sldId id="332" r:id="rId22"/>
    <p:sldId id="334" r:id="rId23"/>
    <p:sldId id="335" r:id="rId24"/>
    <p:sldId id="336" r:id="rId25"/>
    <p:sldId id="337" r:id="rId26"/>
    <p:sldId id="292" r:id="rId27"/>
    <p:sldId id="309" r:id="rId28"/>
    <p:sldId id="324" r:id="rId29"/>
    <p:sldId id="323" r:id="rId30"/>
    <p:sldId id="325" r:id="rId31"/>
    <p:sldId id="330" r:id="rId32"/>
    <p:sldId id="329" r:id="rId33"/>
    <p:sldId id="289" r:id="rId34"/>
    <p:sldId id="290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D5C1"/>
    <a:srgbClr val="FDFBF9"/>
    <a:srgbClr val="FFFFFF"/>
    <a:srgbClr val="BA8F5A"/>
    <a:srgbClr val="FFFF99"/>
    <a:srgbClr val="A63095"/>
    <a:srgbClr val="5D3525"/>
    <a:srgbClr val="BE775A"/>
    <a:srgbClr val="F1E9DF"/>
    <a:srgbClr val="EFD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6CFDD1-B3B1-9C94-F34D-6C8F288CFB87}" v="334" dt="2025-07-02T07:19:32.144"/>
    <p1510:client id="{838EC8CF-9809-1C6E-5167-0376537AEEDF}" v="341" dt="2025-07-02T05:29:59.524"/>
    <p1510:client id="{8BF04A68-98B8-839A-860F-B0D0DA713F55}" v="1308" dt="2025-07-02T06:47:30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71" autoAdjust="0"/>
    <p:restoredTop sz="79434" autoAdjust="0"/>
  </p:normalViewPr>
  <p:slideViewPr>
    <p:cSldViewPr snapToGrid="0">
      <p:cViewPr varScale="1">
        <p:scale>
          <a:sx n="83" d="100"/>
          <a:sy n="83" d="100"/>
        </p:scale>
        <p:origin x="924" y="84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49F4B1-B3D5-4B94-A3A4-74ED1A560E52}" type="datetimeFigureOut">
              <a:t>2026-10-15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70137B-041D-4A5D-9B03-445135B01CD6}" type="slidenum"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219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134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496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411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858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050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533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소도시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테마별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빵지순례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코스 제공</a:t>
            </a:r>
          </a:p>
          <a:p>
            <a:pPr lvl="1"/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지역별 대표 빵집을 잇는 스탬프 투어 코스를 기획해 사용자의 빵 탐방 동기를 높입니다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계절별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테마별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전통빵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디저트 전문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가족 나들이 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다양하게 코스를 제공하여 색다른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빵지순례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경험을 선사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신메뉴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출시 연계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지역 상생 캠페인 진행</a:t>
            </a:r>
          </a:p>
          <a:p>
            <a:pPr lvl="1"/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빵집이 함께 참여하는 공동 할인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신메뉴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시식 이벤트 등 지역 프로모션을 운영해 소상공인의 마케팅을 지원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시즌별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지역 사회 이슈와 연계한 캠페인을 통해 소상공인과 소비자가 모두 참여하고 함께 성장하는 구조를 만듭니다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인증샷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랭킹 콘텐츠로 자연스러운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바이럴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방문 인증샷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솔직한 후기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빵집 랭킹 등 유저가 만든 콘텐츠를 앱 내에서 공유할 수 있도록 지원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 간 추천 및 경험 나눔이 자연스럽게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바이럴을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이끌어내어 플랫폼의 활력을 더합니다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지역 축제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관광과 연계한 이벤트 플랫폼으로 확장</a:t>
            </a:r>
          </a:p>
          <a:p>
            <a:pPr lvl="1"/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지방자치단체 및 다양한 브랜드와 협력해 지역 축제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관광 프로그램과 연동한 특별 이벤트를 진행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지역 명소와 빵집을 결합해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앱이 지역 경제와 관광 활성화를 견인할 수 있도록 플랫폼을 발전시킵니다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278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호스팅 </a:t>
            </a:r>
            <a:r>
              <a:rPr lang="ko-KR" altLang="en-US" dirty="0" err="1"/>
              <a:t>랜더</a:t>
            </a:r>
            <a:endParaRPr lang="en-US" altLang="ko-KR" dirty="0"/>
          </a:p>
          <a:p>
            <a:r>
              <a:rPr lang="en-US" altLang="ko-KR" dirty="0"/>
              <a:t>DB</a:t>
            </a:r>
            <a:r>
              <a:rPr lang="ko-KR" altLang="en-US" dirty="0"/>
              <a:t>서버 </a:t>
            </a:r>
            <a:r>
              <a:rPr lang="en-US" altLang="ko-KR" dirty="0" err="1"/>
              <a:t>GoormIDE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6325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782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5648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1684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2203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8233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228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A6B9B-9AD6-EA1C-7367-9E5283C19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A62D7C-747E-C077-3DC4-3F5A30A0A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0DDBD5-1B94-B051-C562-AA0DA1FC0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F0232C-D366-F622-B245-EF6CB2F85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0660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7B4D3-9EC9-BA40-E605-ED07BFA72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4CD880-1861-6960-92FB-81C8B64C8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0C885F-173F-99C9-A357-6B4EBD5CB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B58E8D-E500-9D2B-3007-CC6A944EC3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574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BCF05-83DD-7CB4-89C5-76687F245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A9409C-E8CB-4C9E-A2BC-92E4A9BF9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CB20A2-2272-533E-23B1-2CB294C5C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78681B-6CE7-7E97-05F8-885A8EE4F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8636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5175B-152D-5CD5-C937-86E1FBC68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640034-5C5B-A9E2-3B17-D9B074191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05218E-EE3A-D57D-543C-0FB99D6B7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D945F6-9466-3F0C-A570-CDEF26F2D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8197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5616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66071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5305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8908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63228-E4B8-6810-5FB5-7767AAC30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C8B064-8B96-6C6B-CC17-6186C898A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0C3222-3399-AB2A-1E70-BD13B6445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0ABC05-066E-B9DB-3127-60FF4BDB2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1403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68C7A-2848-0920-9A1C-BD3CE0B06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F584A5-89D8-3323-DC20-89FD30CF8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BD6A80-6341-05E2-0321-B92ABC84C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223009-B4E8-7A6A-105B-F036DDB08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4982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B3695-335D-CBED-4207-82E3FDDEC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78E682-D947-C593-CE44-EE7224466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E45DDC-A5EA-FD93-12FB-1AC76F39E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64FD96-E307-3D88-7337-E01458639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8691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A9077-5066-1C75-4776-5E03B469F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DA86EE-E53D-1D0C-D91C-5BE89AF36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365F6E-6232-B1BE-257C-73BAF22C6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5A6DB8-392E-2573-9CD2-A7C39CD52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137B-041D-4A5D-9B03-445135B01CD6}" type="slidenum">
              <a:rPr lang="en-US" altLang="ko-KR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34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그룹 39">
            <a:extLst>
              <a:ext uri="{FF2B5EF4-FFF2-40B4-BE49-F238E27FC236}">
                <a16:creationId xmlns:a16="http://schemas.microsoft.com/office/drawing/2014/main" id="{DD109151-7FF7-0536-2343-5D7E4310327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CA6CDF4D-5BAC-7274-B827-CF0CB217A27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0" y="6595207"/>
              <a:ext cx="12192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428F7CFB-401B-FCB1-90BC-FFD44A680CB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0" y="262793"/>
              <a:ext cx="12192000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2EFEFFED-1350-7599-52CB-D81C91C081C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69764" y="0"/>
              <a:ext cx="0" cy="685800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F4210BF6-55B9-2EAB-113A-F8D8419DB38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1829075" y="0"/>
              <a:ext cx="0" cy="6858000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28520BA7-2B2F-4E28-3FDE-BEA7D13D3759}"/>
              </a:ext>
            </a:extLst>
          </p:cNvPr>
          <p:cNvGrpSpPr/>
          <p:nvPr/>
        </p:nvGrpSpPr>
        <p:grpSpPr>
          <a:xfrm>
            <a:off x="1206252" y="2228671"/>
            <a:ext cx="5772810" cy="1661994"/>
            <a:chOff x="1206252" y="2228671"/>
            <a:chExt cx="5772810" cy="166199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9F71A1C-2252-4A5E-03A8-084E4F92F168}"/>
                </a:ext>
              </a:extLst>
            </p:cNvPr>
            <p:cNvSpPr txBox="1"/>
            <p:nvPr/>
          </p:nvSpPr>
          <p:spPr>
            <a:xfrm>
              <a:off x="1211681" y="3429000"/>
              <a:ext cx="5767381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2400" b="1" dirty="0">
                  <a:solidFill>
                    <a:srgbClr val="5D3525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OPEN </a:t>
              </a:r>
              <a:r>
                <a:rPr lang="en-US" altLang="ko-KR" sz="2400" b="1" dirty="0" err="1">
                  <a:solidFill>
                    <a:srgbClr val="5D3525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API를</a:t>
              </a:r>
              <a:r>
                <a:rPr lang="en-US" altLang="ko-KR" sz="2400" b="1" dirty="0">
                  <a:solidFill>
                    <a:srgbClr val="5D3525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 </a:t>
              </a:r>
              <a:r>
                <a:rPr lang="en-US" altLang="ko-KR" sz="2400" b="1" dirty="0" err="1">
                  <a:solidFill>
                    <a:srgbClr val="5D3525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활용한</a:t>
              </a:r>
              <a:r>
                <a:rPr lang="en-US" altLang="ko-KR" sz="2400" b="1" dirty="0">
                  <a:solidFill>
                    <a:srgbClr val="5D3525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 GPS</a:t>
              </a:r>
              <a:r>
                <a:rPr lang="ko-KR" altLang="en-US" sz="2400" b="1" dirty="0">
                  <a:solidFill>
                    <a:srgbClr val="5D3525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인증 </a:t>
              </a:r>
              <a:r>
                <a:rPr lang="en-US" altLang="ko-KR" sz="2400" b="1" dirty="0">
                  <a:solidFill>
                    <a:srgbClr val="5D3525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앱 </a:t>
              </a:r>
              <a:r>
                <a:rPr lang="ko-KR" altLang="en-US" sz="2400" b="1" dirty="0">
                  <a:solidFill>
                    <a:srgbClr val="5D3525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개발</a:t>
              </a:r>
              <a:endParaRPr lang="en-US" altLang="ko-KR" sz="2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FEAAAA4-E057-1B55-13AD-28C409A4E688}"/>
                </a:ext>
              </a:extLst>
            </p:cNvPr>
            <p:cNvSpPr txBox="1"/>
            <p:nvPr/>
          </p:nvSpPr>
          <p:spPr>
            <a:xfrm>
              <a:off x="1206252" y="2228671"/>
              <a:ext cx="4889745" cy="120032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sz="7200" b="1" dirty="0">
                  <a:solidFill>
                    <a:srgbClr val="5D3525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오늘 한</a:t>
              </a:r>
              <a:r>
                <a:rPr lang="en-US" altLang="ko-KR" sz="7200" b="1" dirty="0">
                  <a:solidFill>
                    <a:srgbClr val="5D3525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 </a:t>
              </a:r>
              <a:r>
                <a:rPr lang="ko-KR" sz="7200" b="1" dirty="0">
                  <a:solidFill>
                    <a:srgbClr val="5D3525"/>
                  </a:solidFill>
                  <a:latin typeface="HY목각파임B" panose="02030600000101010101" pitchFamily="18" charset="-127"/>
                  <a:ea typeface="HY목각파임B" panose="02030600000101010101" pitchFamily="18" charset="-127"/>
                </a:rPr>
                <a:t>빵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8E39EE5-7402-795F-87FD-C44492D35309}"/>
              </a:ext>
            </a:extLst>
          </p:cNvPr>
          <p:cNvSpPr txBox="1"/>
          <p:nvPr/>
        </p:nvSpPr>
        <p:spPr>
          <a:xfrm>
            <a:off x="4298990" y="6218773"/>
            <a:ext cx="36008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오늘도 한 빵 </a:t>
            </a:r>
            <a:r>
              <a:rPr lang="en-US" altLang="ko-KR" sz="16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–</a:t>
            </a:r>
            <a:r>
              <a:rPr lang="en-US" altLang="ko-KR" sz="1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 </a:t>
            </a:r>
            <a:r>
              <a:rPr lang="ko-KR" altLang="en-US" sz="1400" b="1" dirty="0" err="1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오호준</a:t>
            </a:r>
            <a:r>
              <a:rPr lang="en-US" altLang="ko-KR" sz="1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 / </a:t>
            </a:r>
            <a:r>
              <a:rPr lang="ko-KR" altLang="en-US" sz="1400" b="1" dirty="0" err="1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박미연</a:t>
            </a:r>
            <a:r>
              <a:rPr lang="en-US" altLang="ko-KR" sz="1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 </a:t>
            </a:r>
            <a:endParaRPr lang="ko-KR" altLang="en-US" sz="1400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6669903F-1CDA-7979-10A7-E99AAB4B27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726" y="807789"/>
            <a:ext cx="3633593" cy="524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6DF51-C5D7-16B9-589D-3F214B8FD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30C81C1-F300-42EF-710A-C3A9CBD1BD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B608ABBB-2E8C-5B9B-E2AD-F5A2C607C086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366712" y="3429000"/>
            <a:ext cx="11272838" cy="0"/>
          </a:xfrm>
          <a:prstGeom prst="straightConnector1">
            <a:avLst/>
          </a:prstGeom>
          <a:ln w="57150">
            <a:gradFill flip="none" rotWithShape="1">
              <a:gsLst>
                <a:gs pos="0">
                  <a:srgbClr val="E5D5C1"/>
                </a:gs>
                <a:gs pos="100000">
                  <a:srgbClr val="C19A6B"/>
                </a:gs>
              </a:gsLst>
              <a:lin ang="0" scaled="1"/>
              <a:tileRect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C1AAF33-75FB-80CC-9E28-CD1CBDB2734D}"/>
              </a:ext>
            </a:extLst>
          </p:cNvPr>
          <p:cNvGrpSpPr>
            <a:grpSpLocks/>
          </p:cNvGrpSpPr>
          <p:nvPr/>
        </p:nvGrpSpPr>
        <p:grpSpPr>
          <a:xfrm>
            <a:off x="790680" y="3326272"/>
            <a:ext cx="9526235" cy="204345"/>
            <a:chOff x="890012" y="3318554"/>
            <a:chExt cx="9526235" cy="204345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9A7D25EE-14C6-007F-CED3-70A172693230}"/>
                </a:ext>
              </a:extLst>
            </p:cNvPr>
            <p:cNvSpPr>
              <a:spLocks/>
            </p:cNvSpPr>
            <p:nvPr/>
          </p:nvSpPr>
          <p:spPr>
            <a:xfrm>
              <a:off x="890012" y="3338433"/>
              <a:ext cx="183356" cy="183356"/>
            </a:xfrm>
            <a:prstGeom prst="ellipse">
              <a:avLst/>
            </a:prstGeom>
            <a:solidFill>
              <a:srgbClr val="BE77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D84FAA3B-A927-C067-4108-C8BC89E43E1D}"/>
                </a:ext>
              </a:extLst>
            </p:cNvPr>
            <p:cNvSpPr>
              <a:spLocks/>
            </p:cNvSpPr>
            <p:nvPr/>
          </p:nvSpPr>
          <p:spPr>
            <a:xfrm>
              <a:off x="2140892" y="3318554"/>
              <a:ext cx="183356" cy="183356"/>
            </a:xfrm>
            <a:prstGeom prst="ellipse">
              <a:avLst/>
            </a:prstGeom>
            <a:solidFill>
              <a:srgbClr val="C98D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F593F53-822C-8EF6-18AE-D3A6ECE8BA34}"/>
                </a:ext>
              </a:extLst>
            </p:cNvPr>
            <p:cNvSpPr>
              <a:spLocks/>
            </p:cNvSpPr>
            <p:nvPr/>
          </p:nvSpPr>
          <p:spPr>
            <a:xfrm>
              <a:off x="3440123" y="3331774"/>
              <a:ext cx="183356" cy="183356"/>
            </a:xfrm>
            <a:prstGeom prst="ellipse">
              <a:avLst/>
            </a:prstGeom>
            <a:solidFill>
              <a:srgbClr val="D6A8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4C2C9A38-1B3B-D146-F0CF-D87526C0B632}"/>
                </a:ext>
              </a:extLst>
            </p:cNvPr>
            <p:cNvSpPr>
              <a:spLocks/>
            </p:cNvSpPr>
            <p:nvPr/>
          </p:nvSpPr>
          <p:spPr>
            <a:xfrm>
              <a:off x="4841433" y="3338433"/>
              <a:ext cx="183356" cy="183356"/>
            </a:xfrm>
            <a:prstGeom prst="ellipse">
              <a:avLst/>
            </a:prstGeom>
            <a:solidFill>
              <a:srgbClr val="E6C8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72CD9F53-9C1D-1A85-7FE0-2C8CC27DFFD3}"/>
                </a:ext>
              </a:extLst>
            </p:cNvPr>
            <p:cNvSpPr>
              <a:spLocks/>
            </p:cNvSpPr>
            <p:nvPr/>
          </p:nvSpPr>
          <p:spPr>
            <a:xfrm>
              <a:off x="6337996" y="3338433"/>
              <a:ext cx="183356" cy="183356"/>
            </a:xfrm>
            <a:prstGeom prst="ellipse">
              <a:avLst/>
            </a:prstGeom>
            <a:solidFill>
              <a:srgbClr val="ECD5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11547A4D-28C8-8B41-2BB4-A08031EAD4A4}"/>
                </a:ext>
              </a:extLst>
            </p:cNvPr>
            <p:cNvSpPr>
              <a:spLocks/>
            </p:cNvSpPr>
            <p:nvPr/>
          </p:nvSpPr>
          <p:spPr>
            <a:xfrm>
              <a:off x="7525095" y="3339543"/>
              <a:ext cx="183356" cy="183356"/>
            </a:xfrm>
            <a:prstGeom prst="ellipse">
              <a:avLst/>
            </a:prstGeom>
            <a:solidFill>
              <a:srgbClr val="EFDC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1A5C07A8-7810-F3DB-B6B2-332DEA12D1A0}"/>
                </a:ext>
              </a:extLst>
            </p:cNvPr>
            <p:cNvSpPr>
              <a:spLocks/>
            </p:cNvSpPr>
            <p:nvPr/>
          </p:nvSpPr>
          <p:spPr>
            <a:xfrm>
              <a:off x="8875685" y="3338433"/>
              <a:ext cx="183356" cy="183356"/>
            </a:xfrm>
            <a:prstGeom prst="ellipse">
              <a:avLst/>
            </a:prstGeom>
            <a:solidFill>
              <a:srgbClr val="EFDC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7BF10C35-3FA9-7B04-DCC2-CC840E3FB0EE}"/>
                </a:ext>
              </a:extLst>
            </p:cNvPr>
            <p:cNvSpPr>
              <a:spLocks/>
            </p:cNvSpPr>
            <p:nvPr/>
          </p:nvSpPr>
          <p:spPr>
            <a:xfrm>
              <a:off x="10232891" y="3331774"/>
              <a:ext cx="183356" cy="183356"/>
            </a:xfrm>
            <a:prstGeom prst="ellipse">
              <a:avLst/>
            </a:prstGeom>
            <a:solidFill>
              <a:srgbClr val="F1E9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F7929254-45E0-BC5F-8A40-FBC837223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80" y="2592920"/>
            <a:ext cx="5649733" cy="165006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latinLnBrk="0">
              <a:lnSpc>
                <a:spcPct val="100000"/>
              </a:lnSpc>
              <a:buSzPct val="100000"/>
              <a:buNone/>
            </a:pPr>
            <a:r>
              <a:rPr lang="ko-KR" altLang="en-US" sz="2000" b="1" dirty="0"/>
              <a:t>프로젝트 개요          기대효과 및 활용방안</a:t>
            </a:r>
            <a:endParaRPr lang="en-US" altLang="ko-KR" sz="2000" b="1" dirty="0"/>
          </a:p>
          <a:p>
            <a:pPr marL="0" indent="0" latinLnBrk="0">
              <a:lnSpc>
                <a:spcPct val="100000"/>
              </a:lnSpc>
              <a:buSzPct val="100000"/>
              <a:buNone/>
            </a:pPr>
            <a:r>
              <a:rPr lang="en-US" altLang="ko-KR" sz="2000" b="1" dirty="0"/>
              <a:t>01                         03</a:t>
            </a:r>
          </a:p>
          <a:p>
            <a:pPr marL="0" indent="0" latinLnBrk="0">
              <a:lnSpc>
                <a:spcPct val="100000"/>
              </a:lnSpc>
              <a:buSzPct val="100000"/>
              <a:buNone/>
            </a:pPr>
            <a:r>
              <a:rPr lang="en-US" altLang="ko-KR" sz="2000" b="1" dirty="0"/>
              <a:t>              02                          04</a:t>
            </a:r>
          </a:p>
          <a:p>
            <a:pPr marL="0" indent="0" latinLnBrk="0">
              <a:lnSpc>
                <a:spcPct val="100000"/>
              </a:lnSpc>
              <a:buSzPct val="100000"/>
              <a:buNone/>
            </a:pPr>
            <a:r>
              <a:rPr lang="en-US" altLang="ko-KR" sz="2000" b="1" dirty="0"/>
              <a:t>             </a:t>
            </a:r>
            <a:r>
              <a:rPr lang="ko-KR" altLang="en-US" sz="2000" b="1" dirty="0"/>
              <a:t>기획 및 기능 설명      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개발 환경</a:t>
            </a:r>
            <a:endParaRPr lang="en-US" altLang="ko-KR" sz="2000" b="1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FEF0A525-DF96-C8B4-2B31-358D45EB17E5}"/>
              </a:ext>
            </a:extLst>
          </p:cNvPr>
          <p:cNvSpPr txBox="1">
            <a:spLocks/>
          </p:cNvSpPr>
          <p:nvPr/>
        </p:nvSpPr>
        <p:spPr>
          <a:xfrm>
            <a:off x="6095999" y="2609419"/>
            <a:ext cx="5426869" cy="16568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00000"/>
              </a:lnSpc>
              <a:buSzPct val="100000"/>
              <a:buNone/>
            </a:pPr>
            <a:r>
              <a:rPr lang="ko-KR" altLang="en-US" sz="2000" b="1" dirty="0"/>
              <a:t>개발 일정                프로젝트 구현</a:t>
            </a:r>
            <a:endParaRPr lang="en-US" altLang="ko-KR" sz="2000" b="1" dirty="0"/>
          </a:p>
          <a:p>
            <a:pPr marL="0" indent="0" latinLnBrk="0">
              <a:lnSpc>
                <a:spcPct val="100000"/>
              </a:lnSpc>
              <a:buSzPct val="100000"/>
              <a:buNone/>
            </a:pPr>
            <a:r>
              <a:rPr lang="en-US" altLang="ko-KR" sz="2000" b="1" dirty="0"/>
              <a:t>05                          07</a:t>
            </a:r>
            <a:endParaRPr lang="ko-KR" altLang="en-US" sz="2000" b="1" dirty="0"/>
          </a:p>
          <a:p>
            <a:pPr marL="0" indent="0" latinLnBrk="0">
              <a:lnSpc>
                <a:spcPct val="100000"/>
              </a:lnSpc>
              <a:buSzPct val="100000"/>
              <a:buNone/>
            </a:pPr>
            <a:r>
              <a:rPr lang="en-US" altLang="ko-KR" sz="2000" b="1" dirty="0"/>
              <a:t>              06                           08</a:t>
            </a:r>
          </a:p>
          <a:p>
            <a:pPr marL="0" indent="0" latinLnBrk="0">
              <a:lnSpc>
                <a:spcPct val="100000"/>
              </a:lnSpc>
              <a:buSzPct val="100000"/>
              <a:buNone/>
            </a:pPr>
            <a:r>
              <a:rPr lang="en-US" altLang="ko-KR" sz="2000" b="1" dirty="0"/>
              <a:t>              UI/UX </a:t>
            </a:r>
            <a:r>
              <a:rPr lang="ko-KR" altLang="en-US" sz="2000" b="1" dirty="0"/>
              <a:t>디자인            시연</a:t>
            </a:r>
            <a:endParaRPr lang="en-US" altLang="ko-KR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CB8165-A88A-B291-C7F7-4D35AE6EA44D}"/>
              </a:ext>
            </a:extLst>
          </p:cNvPr>
          <p:cNvSpPr txBox="1"/>
          <p:nvPr/>
        </p:nvSpPr>
        <p:spPr>
          <a:xfrm>
            <a:off x="1494263" y="623962"/>
            <a:ext cx="920347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목차</a:t>
            </a:r>
            <a:endParaRPr lang="ko-KR" sz="44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741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5BB3772-E3E4-D9E8-DF52-83FD33EBC6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D3BBB69-B3A8-5F52-FFDC-66968DB92661}"/>
              </a:ext>
            </a:extLst>
          </p:cNvPr>
          <p:cNvGrpSpPr/>
          <p:nvPr/>
        </p:nvGrpSpPr>
        <p:grpSpPr>
          <a:xfrm>
            <a:off x="1799436" y="2672261"/>
            <a:ext cx="4020967" cy="2092697"/>
            <a:chOff x="2292747" y="1996422"/>
            <a:chExt cx="4020967" cy="209269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F06881-F8A1-B1E8-2E45-B741FD8B0366}"/>
                </a:ext>
              </a:extLst>
            </p:cNvPr>
            <p:cNvSpPr txBox="1"/>
            <p:nvPr/>
          </p:nvSpPr>
          <p:spPr>
            <a:xfrm>
              <a:off x="4561843" y="2400125"/>
              <a:ext cx="1487719" cy="128528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/>
                <a:buChar char="•"/>
              </a:pPr>
              <a:r>
                <a:rPr lang="ko-KR" altLang="en-US" dirty="0" err="1">
                  <a:latin typeface="Malgun Gothic"/>
                  <a:ea typeface="Malgun Gothic"/>
                </a:rPr>
                <a:t>Design</a:t>
              </a:r>
              <a:endParaRPr lang="ko-KR" altLang="en-US" dirty="0">
                <a:latin typeface="Malgun Gothic"/>
                <a:ea typeface="Malgun Gothic"/>
              </a:endParaRP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</a:pPr>
              <a:r>
                <a:rPr lang="ko-KR" altLang="en-US" dirty="0" err="1">
                  <a:latin typeface="Malgun Gothic"/>
                  <a:ea typeface="Malgun Gothic"/>
                </a:rPr>
                <a:t>Front-End</a:t>
              </a:r>
              <a:endParaRPr lang="en-US" altLang="ko-KR" dirty="0">
                <a:latin typeface="Malgun Gothic"/>
                <a:ea typeface="Malgun Gothic"/>
              </a:endParaRP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</a:pPr>
              <a:r>
                <a:rPr lang="en-US" altLang="ko-KR" dirty="0">
                  <a:latin typeface="Malgun Gothic"/>
                  <a:ea typeface="Malgun Gothic"/>
                </a:rPr>
                <a:t>Back-End</a:t>
              </a:r>
              <a:endParaRPr lang="ko-KR" altLang="en-US" dirty="0">
                <a:latin typeface="Malgun Gothic"/>
                <a:ea typeface="Malgun Gothic"/>
              </a:endParaRPr>
            </a:p>
          </p:txBody>
        </p:sp>
        <p:sp>
          <p:nvSpPr>
            <p:cNvPr id="2" name="모서리가 둥근 직사각형 1"/>
            <p:cNvSpPr/>
            <p:nvPr/>
          </p:nvSpPr>
          <p:spPr>
            <a:xfrm>
              <a:off x="2292747" y="1996422"/>
              <a:ext cx="4020967" cy="2092697"/>
            </a:xfrm>
            <a:prstGeom prst="roundRect">
              <a:avLst/>
            </a:prstGeom>
            <a:noFill/>
            <a:ln w="76200">
              <a:solidFill>
                <a:srgbClr val="BA8F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0D48472-8847-E048-E9E9-E75293948757}"/>
                </a:ext>
              </a:extLst>
            </p:cNvPr>
            <p:cNvSpPr txBox="1"/>
            <p:nvPr/>
          </p:nvSpPr>
          <p:spPr>
            <a:xfrm>
              <a:off x="2609617" y="2734993"/>
              <a:ext cx="1042340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000" b="1" dirty="0">
                  <a:latin typeface="Malgun Gothic"/>
                  <a:ea typeface="Malgun Gothic"/>
                </a:rPr>
                <a:t>오호준</a:t>
              </a:r>
              <a:endParaRPr lang="en-US" altLang="ko-KR" sz="2000" b="1" dirty="0">
                <a:latin typeface="Malgun Gothic"/>
                <a:ea typeface="Malgun Gothic"/>
              </a:endParaRPr>
            </a:p>
            <a:p>
              <a:pPr algn="ctr"/>
              <a:r>
                <a:rPr lang="ko-KR" altLang="en-US" sz="1400" b="1" dirty="0">
                  <a:latin typeface="Malgun Gothic"/>
                  <a:ea typeface="Malgun Gothic"/>
                </a:rPr>
                <a:t>팀장</a:t>
              </a:r>
              <a:endParaRPr lang="en-US" altLang="ko-KR" sz="1400" b="1" dirty="0">
                <a:latin typeface="Malgun Gothic"/>
                <a:ea typeface="Malgun Gothic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B0244B5-3539-093D-C827-2E749C228B31}"/>
              </a:ext>
            </a:extLst>
          </p:cNvPr>
          <p:cNvSpPr txBox="1"/>
          <p:nvPr/>
        </p:nvSpPr>
        <p:spPr>
          <a:xfrm>
            <a:off x="1494263" y="623962"/>
            <a:ext cx="920347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01. 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프로젝트 개요 </a:t>
            </a:r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– 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팀 구성</a:t>
            </a:r>
            <a:endParaRPr lang="ko-KR" sz="44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694900B-C73E-2756-85BB-653E151A3D7B}"/>
              </a:ext>
            </a:extLst>
          </p:cNvPr>
          <p:cNvGrpSpPr/>
          <p:nvPr/>
        </p:nvGrpSpPr>
        <p:grpSpPr>
          <a:xfrm>
            <a:off x="6371598" y="2672263"/>
            <a:ext cx="4020967" cy="2092697"/>
            <a:chOff x="2292747" y="1996422"/>
            <a:chExt cx="4020967" cy="209269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341305D-ECF2-AC4C-52F8-29CF62B1888B}"/>
                </a:ext>
              </a:extLst>
            </p:cNvPr>
            <p:cNvSpPr txBox="1"/>
            <p:nvPr/>
          </p:nvSpPr>
          <p:spPr>
            <a:xfrm>
              <a:off x="4561843" y="2607874"/>
              <a:ext cx="1487719" cy="86979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/>
                <a:buChar char="•"/>
              </a:pPr>
              <a:r>
                <a:rPr lang="ko-KR" altLang="en-US" dirty="0" err="1">
                  <a:latin typeface="Malgun Gothic"/>
                  <a:ea typeface="Malgun Gothic"/>
                </a:rPr>
                <a:t>Design</a:t>
              </a:r>
              <a:endParaRPr lang="ko-KR" altLang="en-US" dirty="0">
                <a:latin typeface="Malgun Gothic"/>
                <a:ea typeface="Malgun Gothic"/>
              </a:endParaRP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</a:pPr>
              <a:r>
                <a:rPr lang="ko-KR" altLang="en-US" dirty="0" err="1">
                  <a:latin typeface="Malgun Gothic"/>
                  <a:ea typeface="Malgun Gothic"/>
                </a:rPr>
                <a:t>Front-End</a:t>
              </a:r>
              <a:endParaRPr lang="en-US" altLang="ko-KR" dirty="0">
                <a:latin typeface="Malgun Gothic"/>
                <a:ea typeface="Malgun Gothic"/>
              </a:endParaRPr>
            </a:p>
          </p:txBody>
        </p:sp>
        <p:sp>
          <p:nvSpPr>
            <p:cNvPr id="15" name="모서리가 둥근 직사각형 1">
              <a:extLst>
                <a:ext uri="{FF2B5EF4-FFF2-40B4-BE49-F238E27FC236}">
                  <a16:creationId xmlns:a16="http://schemas.microsoft.com/office/drawing/2014/main" id="{7B11F627-172A-DB09-2F44-A5CD8372C2F7}"/>
                </a:ext>
              </a:extLst>
            </p:cNvPr>
            <p:cNvSpPr/>
            <p:nvPr/>
          </p:nvSpPr>
          <p:spPr>
            <a:xfrm>
              <a:off x="2292747" y="1996422"/>
              <a:ext cx="4020967" cy="2092697"/>
            </a:xfrm>
            <a:prstGeom prst="roundRect">
              <a:avLst/>
            </a:prstGeom>
            <a:noFill/>
            <a:ln w="76200">
              <a:solidFill>
                <a:srgbClr val="BA8F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9090FEE-51D8-93E3-6E55-6EECC06CCA29}"/>
                </a:ext>
              </a:extLst>
            </p:cNvPr>
            <p:cNvSpPr txBox="1"/>
            <p:nvPr/>
          </p:nvSpPr>
          <p:spPr>
            <a:xfrm>
              <a:off x="2609617" y="2734993"/>
              <a:ext cx="1042340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000" b="1" dirty="0" err="1">
                  <a:latin typeface="Malgun Gothic"/>
                  <a:ea typeface="Malgun Gothic"/>
                </a:rPr>
                <a:t>박미연</a:t>
              </a:r>
              <a:endParaRPr lang="en-US" altLang="ko-KR" sz="2000" b="1" dirty="0">
                <a:latin typeface="Malgun Gothic"/>
                <a:ea typeface="Malgun Gothic"/>
              </a:endParaRPr>
            </a:p>
            <a:p>
              <a:pPr algn="ctr"/>
              <a:r>
                <a:rPr lang="ko-KR" altLang="en-US" sz="1400" b="1" dirty="0">
                  <a:latin typeface="Malgun Gothic"/>
                  <a:ea typeface="Malgun Gothic"/>
                </a:rPr>
                <a:t>팀원</a:t>
              </a:r>
              <a:endParaRPr lang="en-US" altLang="ko-KR" sz="1400" b="1" dirty="0">
                <a:latin typeface="Malgun Gothic"/>
                <a:ea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7643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845CA5-F452-6EE1-CDB6-CEEAA668E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825C7F6-D872-8D80-1D69-9E981626CA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D89C3-9B83-12DD-7FD2-4E59F0E003BD}"/>
              </a:ext>
            </a:extLst>
          </p:cNvPr>
          <p:cNvSpPr txBox="1"/>
          <p:nvPr/>
        </p:nvSpPr>
        <p:spPr>
          <a:xfrm>
            <a:off x="1314450" y="1994195"/>
            <a:ext cx="10283825" cy="35662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800" b="1" dirty="0">
                <a:ea typeface="맑은 고딕"/>
              </a:rPr>
              <a:t>주제</a:t>
            </a:r>
            <a:endParaRPr lang="en-US" altLang="ko-KR" sz="2200" b="1" dirty="0">
              <a:ea typeface="맑은 고딕"/>
            </a:endParaRPr>
          </a:p>
          <a:p>
            <a:endParaRPr lang="en-US" altLang="ko-KR" sz="2200" b="1" dirty="0">
              <a:ea typeface="맑은 고딕"/>
            </a:endParaRPr>
          </a:p>
          <a:p>
            <a:r>
              <a:rPr lang="en-US" altLang="ko-KR" sz="2000" b="1" dirty="0">
                <a:ea typeface="맑은 고딕"/>
              </a:rPr>
              <a:t>Open API</a:t>
            </a:r>
            <a:r>
              <a:rPr lang="ko-KR" altLang="en-US" sz="2000" b="1" dirty="0">
                <a:ea typeface="맑은 고딕"/>
              </a:rPr>
              <a:t>를 활용한 </a:t>
            </a:r>
            <a:r>
              <a:rPr lang="en-US" altLang="ko-KR" sz="2000" b="1" dirty="0">
                <a:ea typeface="맑은 고딕"/>
              </a:rPr>
              <a:t>GPS</a:t>
            </a:r>
            <a:r>
              <a:rPr lang="ko-KR" altLang="en-US" sz="2000" b="1" dirty="0">
                <a:ea typeface="맑은 고딕"/>
              </a:rPr>
              <a:t>인증으로 즐기는 우리 동네 빵집 탐방 스탬프 투어 앱</a:t>
            </a:r>
            <a:endParaRPr lang="en-US" altLang="ko-KR" sz="2000" b="1" dirty="0">
              <a:ea typeface="맑은 고딕"/>
            </a:endParaRPr>
          </a:p>
          <a:p>
            <a:endParaRPr lang="en-US" altLang="ko-KR" sz="2200" b="1" dirty="0">
              <a:ea typeface="맑은 고딕"/>
            </a:endParaRPr>
          </a:p>
          <a:p>
            <a:endParaRPr lang="en-US" altLang="ko-KR" sz="2200" b="1" dirty="0">
              <a:ea typeface="맑은 고딕"/>
            </a:endParaRPr>
          </a:p>
          <a:p>
            <a:r>
              <a:rPr lang="ko-KR" altLang="en-US" sz="2800" b="1" dirty="0">
                <a:ea typeface="맑은 고딕"/>
              </a:rPr>
              <a:t>목표</a:t>
            </a:r>
            <a:endParaRPr lang="en-US" altLang="ko-KR" sz="2800" b="1" dirty="0">
              <a:ea typeface="맑은 고딕"/>
            </a:endParaRPr>
          </a:p>
          <a:p>
            <a:endParaRPr lang="en-US" altLang="ko-KR" sz="2200" b="1" dirty="0"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2200" b="1" dirty="0">
                <a:ea typeface="맑은 고딕"/>
              </a:rPr>
              <a:t>단순한 빵집 찾기가 아닌 </a:t>
            </a:r>
            <a:r>
              <a:rPr lang="ko-KR" altLang="en-US" sz="2200" b="1" dirty="0" err="1">
                <a:ea typeface="맑은 고딕"/>
              </a:rPr>
              <a:t>빵지순례</a:t>
            </a:r>
            <a:r>
              <a:rPr lang="ko-KR" altLang="en-US" sz="2200" b="1" dirty="0">
                <a:ea typeface="맑은 고딕"/>
              </a:rPr>
              <a:t> </a:t>
            </a:r>
            <a:r>
              <a:rPr lang="en-US" altLang="ko-KR" sz="2200" b="1" dirty="0">
                <a:ea typeface="맑은 고딕"/>
              </a:rPr>
              <a:t>+</a:t>
            </a:r>
            <a:r>
              <a:rPr lang="ko-KR" altLang="en-US" sz="2200" b="1" dirty="0">
                <a:ea typeface="맑은 고딕"/>
              </a:rPr>
              <a:t> 스탬프 투어 </a:t>
            </a:r>
            <a:r>
              <a:rPr lang="en-US" altLang="ko-KR" sz="2200" b="1" dirty="0">
                <a:ea typeface="맑은 고딕"/>
              </a:rPr>
              <a:t>+</a:t>
            </a:r>
            <a:r>
              <a:rPr lang="ko-KR" altLang="en-US" sz="2200" b="1" dirty="0">
                <a:ea typeface="맑은 고딕"/>
              </a:rPr>
              <a:t> 공유로</a:t>
            </a:r>
            <a:endParaRPr lang="en-US" altLang="ko-KR" sz="2200" b="1" dirty="0"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2200" b="1" dirty="0">
                <a:ea typeface="맑은 고딕"/>
              </a:rPr>
              <a:t>지역 사회와 함께 성장가능한 플랫폼 구축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729" y="1994195"/>
            <a:ext cx="495238" cy="520635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729" y="3746795"/>
            <a:ext cx="495238" cy="5206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501942-11D3-3C58-ABE3-317162EC4E6A}"/>
              </a:ext>
            </a:extLst>
          </p:cNvPr>
          <p:cNvSpPr txBox="1"/>
          <p:nvPr/>
        </p:nvSpPr>
        <p:spPr>
          <a:xfrm>
            <a:off x="1494263" y="623962"/>
            <a:ext cx="920347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01. 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프로젝트 개요</a:t>
            </a:r>
            <a:endParaRPr lang="ko-KR" sz="44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895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FF2EE-1B65-5724-9235-A606288D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632F91-5EAD-F1C9-4AAE-C9310A6A0D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0813C0D-DD64-0549-C677-DD89E3626A7C}"/>
              </a:ext>
            </a:extLst>
          </p:cNvPr>
          <p:cNvGrpSpPr/>
          <p:nvPr/>
        </p:nvGrpSpPr>
        <p:grpSpPr>
          <a:xfrm>
            <a:off x="946796" y="2015797"/>
            <a:ext cx="4754080" cy="3545076"/>
            <a:chOff x="1917646" y="1131567"/>
            <a:chExt cx="2997886" cy="2615202"/>
          </a:xfrm>
        </p:grpSpPr>
        <p:pic>
          <p:nvPicPr>
            <p:cNvPr id="3" name="그래픽 2" descr="도시 단색으로 채워진">
              <a:extLst>
                <a:ext uri="{FF2B5EF4-FFF2-40B4-BE49-F238E27FC236}">
                  <a16:creationId xmlns:a16="http://schemas.microsoft.com/office/drawing/2014/main" id="{BE60DA5E-2FA5-20E3-A69E-4B58A0D935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04813" y="1131567"/>
              <a:ext cx="1820381" cy="2232989"/>
            </a:xfrm>
            <a:prstGeom prst="rect">
              <a:avLst/>
            </a:prstGeom>
          </p:spPr>
        </p:pic>
        <p:pic>
          <p:nvPicPr>
            <p:cNvPr id="13" name="그래픽 12" descr="날아가는 돈 단색으로 채워진">
              <a:extLst>
                <a:ext uri="{FF2B5EF4-FFF2-40B4-BE49-F238E27FC236}">
                  <a16:creationId xmlns:a16="http://schemas.microsoft.com/office/drawing/2014/main" id="{67E0049F-1B3B-E14A-4A45-76478119E3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865003">
              <a:off x="4001132" y="1790861"/>
              <a:ext cx="914400" cy="914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13B164-BB72-9314-C565-0931FD36C630}"/>
                </a:ext>
              </a:extLst>
            </p:cNvPr>
            <p:cNvSpPr txBox="1"/>
            <p:nvPr/>
          </p:nvSpPr>
          <p:spPr>
            <a:xfrm>
              <a:off x="1917646" y="3100438"/>
              <a:ext cx="2994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000" b="1" dirty="0">
                  <a:ea typeface="맑은 고딕"/>
                </a:rPr>
                <a:t>프랜차이즈 중심 소비</a:t>
              </a:r>
              <a:endParaRPr lang="en-US" altLang="ko-KR" sz="2000" b="1" dirty="0">
                <a:ea typeface="맑은 고딕"/>
              </a:endParaRPr>
            </a:p>
            <a:p>
              <a:pPr algn="ctr"/>
              <a:r>
                <a:rPr lang="ko-KR" altLang="en-US" sz="1600" dirty="0">
                  <a:ea typeface="맑은 고딕"/>
                </a:rPr>
                <a:t>소상공인 노출 저조</a:t>
              </a:r>
              <a:endParaRPr lang="ko-KR" altLang="en-US" sz="2000" dirty="0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FB46DDA-8491-D116-A97B-C5A6F5098AC8}"/>
              </a:ext>
            </a:extLst>
          </p:cNvPr>
          <p:cNvGrpSpPr/>
          <p:nvPr/>
        </p:nvGrpSpPr>
        <p:grpSpPr>
          <a:xfrm>
            <a:off x="6359652" y="2016275"/>
            <a:ext cx="4445083" cy="3544598"/>
            <a:chOff x="6668450" y="1358723"/>
            <a:chExt cx="2994714" cy="2388045"/>
          </a:xfrm>
        </p:grpSpPr>
        <p:pic>
          <p:nvPicPr>
            <p:cNvPr id="17" name="그래픽 16" descr="Map with pin">
              <a:extLst>
                <a:ext uri="{FF2B5EF4-FFF2-40B4-BE49-F238E27FC236}">
                  <a16:creationId xmlns:a16="http://schemas.microsoft.com/office/drawing/2014/main" id="{8ECA8F24-D7E0-C740-AC19-71769A3167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76469" y="1358723"/>
              <a:ext cx="1778676" cy="1778676"/>
            </a:xfrm>
            <a:prstGeom prst="rect">
              <a:avLst/>
            </a:prstGeom>
          </p:spPr>
        </p:pic>
        <p:pic>
          <p:nvPicPr>
            <p:cNvPr id="23" name="그래픽 22" descr="닫기 단색으로 채워진">
              <a:extLst>
                <a:ext uri="{FF2B5EF4-FFF2-40B4-BE49-F238E27FC236}">
                  <a16:creationId xmlns:a16="http://schemas.microsoft.com/office/drawing/2014/main" id="{C57E9F69-6C11-D063-B069-FCD31E2488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57921" y="1550751"/>
              <a:ext cx="556634" cy="556634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7907DF2-99DF-EFD8-1396-E32C8E2C2623}"/>
                </a:ext>
              </a:extLst>
            </p:cNvPr>
            <p:cNvSpPr txBox="1"/>
            <p:nvPr/>
          </p:nvSpPr>
          <p:spPr>
            <a:xfrm>
              <a:off x="6668450" y="3100437"/>
              <a:ext cx="2994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000" b="1" dirty="0">
                  <a:ea typeface="맑은 고딕"/>
                </a:rPr>
                <a:t>지역노출 부족</a:t>
              </a:r>
              <a:endParaRPr lang="en-US" altLang="ko-KR" sz="2000" b="1" dirty="0">
                <a:ea typeface="맑은 고딕"/>
              </a:endParaRPr>
            </a:p>
            <a:p>
              <a:pPr algn="ctr"/>
              <a:r>
                <a:rPr lang="ko-KR" altLang="en-US" sz="1600" dirty="0">
                  <a:ea typeface="맑은 고딕"/>
                </a:rPr>
                <a:t>지역상권 저조</a:t>
              </a:r>
              <a:endParaRPr lang="en-US" altLang="ko-KR" sz="1600" dirty="0">
                <a:ea typeface="맑은 고딕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8D9239E-0C10-8A4E-EDCD-8ED7C85295BF}"/>
              </a:ext>
            </a:extLst>
          </p:cNvPr>
          <p:cNvSpPr txBox="1"/>
          <p:nvPr/>
        </p:nvSpPr>
        <p:spPr>
          <a:xfrm>
            <a:off x="1494263" y="623962"/>
            <a:ext cx="920347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01. 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프로젝트 개요 </a:t>
            </a:r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– 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주제 선정 이유</a:t>
            </a:r>
            <a:endParaRPr lang="ko-KR" sz="44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2137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FF2EE-1B65-5724-9235-A606288D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632F91-5EAD-F1C9-4AAE-C9310A6A0D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2AFB89-F664-68DA-2E9F-12A8C256B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9074" y="549211"/>
            <a:ext cx="3726562" cy="390249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173553D-1DFB-80DF-0CE9-47A6CEA10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64" y="799944"/>
            <a:ext cx="3970936" cy="24164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62392AA-D086-7057-4373-74EABC49C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6620" y="1824217"/>
            <a:ext cx="6442561" cy="254440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539D3A-8F71-D3CA-5B67-BAFC55C2FC3C}"/>
              </a:ext>
            </a:extLst>
          </p:cNvPr>
          <p:cNvSpPr txBox="1"/>
          <p:nvPr/>
        </p:nvSpPr>
        <p:spPr>
          <a:xfrm>
            <a:off x="215789" y="4921458"/>
            <a:ext cx="11760420" cy="12212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200" b="1" dirty="0">
                <a:latin typeface="+mj-lt"/>
                <a:ea typeface="맑은 고딕"/>
              </a:rPr>
              <a:t>GPS </a:t>
            </a:r>
            <a:r>
              <a:rPr lang="ko-KR" altLang="en-US" sz="2200" b="1" dirty="0">
                <a:latin typeface="+mj-lt"/>
                <a:ea typeface="맑은 고딕"/>
              </a:rPr>
              <a:t>인증 </a:t>
            </a:r>
            <a:r>
              <a:rPr lang="en-US" altLang="ko-KR" sz="2200" b="1" dirty="0">
                <a:latin typeface="+mj-lt"/>
                <a:ea typeface="맑은 고딕"/>
              </a:rPr>
              <a:t>+ </a:t>
            </a:r>
            <a:r>
              <a:rPr lang="ko-KR" altLang="en-US" sz="2200" b="1" dirty="0">
                <a:latin typeface="+mj-lt"/>
                <a:ea typeface="맑은 고딕"/>
              </a:rPr>
              <a:t>스탬프 투어 </a:t>
            </a:r>
            <a:r>
              <a:rPr lang="en-US" altLang="ko-KR" sz="2200" b="1" dirty="0">
                <a:latin typeface="+mj-lt"/>
                <a:ea typeface="맑은 고딕"/>
              </a:rPr>
              <a:t>+ </a:t>
            </a:r>
            <a:r>
              <a:rPr lang="ko-KR" altLang="en-US" sz="2200" b="1" dirty="0">
                <a:latin typeface="+mj-lt"/>
                <a:ea typeface="맑은 고딕"/>
              </a:rPr>
              <a:t>리워드 시스템</a:t>
            </a:r>
            <a:endParaRPr lang="en-US" altLang="ko-KR" sz="2200" b="1" dirty="0">
              <a:ea typeface="맑은 고딕"/>
            </a:endParaRPr>
          </a:p>
          <a:p>
            <a:pPr algn="ctr">
              <a:lnSpc>
                <a:spcPct val="200000"/>
              </a:lnSpc>
            </a:pPr>
            <a:r>
              <a:rPr lang="en-US" altLang="ko-KR" sz="2200" b="1" dirty="0">
                <a:ea typeface="맑은 고딕"/>
              </a:rPr>
              <a:t>‘</a:t>
            </a:r>
            <a:r>
              <a:rPr lang="ko-KR" altLang="en-US" sz="2200" b="1" dirty="0" err="1">
                <a:ea typeface="맑은 고딕"/>
              </a:rPr>
              <a:t>빵지순례</a:t>
            </a:r>
            <a:r>
              <a:rPr lang="en-US" altLang="ko-KR" sz="2200" b="1" dirty="0">
                <a:ea typeface="맑은 고딕"/>
              </a:rPr>
              <a:t>’</a:t>
            </a:r>
            <a:r>
              <a:rPr lang="ko-KR" altLang="en-US" sz="2200" b="1" dirty="0">
                <a:ea typeface="맑은 고딕"/>
              </a:rPr>
              <a:t>로 취향 </a:t>
            </a:r>
            <a:r>
              <a:rPr lang="en-US" altLang="ko-KR" sz="2200" b="1" dirty="0">
                <a:ea typeface="맑은 고딕"/>
              </a:rPr>
              <a:t>+ </a:t>
            </a:r>
            <a:r>
              <a:rPr lang="ko-KR" altLang="en-US" sz="2200" b="1" dirty="0">
                <a:ea typeface="맑은 고딕"/>
              </a:rPr>
              <a:t>탐방 즐거움 제공 </a:t>
            </a:r>
            <a:r>
              <a:rPr lang="en-US" altLang="ko-KR" sz="2200" b="1" dirty="0">
                <a:ea typeface="맑은 고딕"/>
              </a:rPr>
              <a:t>&amp; </a:t>
            </a:r>
            <a:r>
              <a:rPr lang="ko-KR" altLang="en-US" sz="2400" b="1" dirty="0">
                <a:solidFill>
                  <a:srgbClr val="C00000"/>
                </a:solidFill>
                <a:ea typeface="맑은 고딕"/>
              </a:rPr>
              <a:t>지속 가능한 경제</a:t>
            </a:r>
            <a:r>
              <a:rPr lang="en-US" altLang="ko-KR" sz="2400" b="1" dirty="0">
                <a:solidFill>
                  <a:srgbClr val="C00000"/>
                </a:solidFill>
                <a:ea typeface="맑은 고딕"/>
              </a:rPr>
              <a:t>·</a:t>
            </a:r>
            <a:r>
              <a:rPr lang="ko-KR" altLang="en-US" sz="2400" b="1" dirty="0">
                <a:solidFill>
                  <a:srgbClr val="C00000"/>
                </a:solidFill>
                <a:ea typeface="맑은 고딕"/>
              </a:rPr>
              <a:t>사회 선순환 플랫폼</a:t>
            </a:r>
            <a:r>
              <a:rPr lang="ko-KR" altLang="en-US" sz="2200" b="1" dirty="0">
                <a:solidFill>
                  <a:srgbClr val="C00000"/>
                </a:solidFill>
                <a:ea typeface="맑은 고딕"/>
              </a:rPr>
              <a:t> </a:t>
            </a:r>
            <a:r>
              <a:rPr lang="ko-KR" altLang="en-US" sz="2200" b="1" dirty="0">
                <a:ea typeface="맑은 고딕"/>
              </a:rPr>
              <a:t>기획</a:t>
            </a:r>
            <a:endParaRPr lang="en-US" altLang="ko-KR" sz="2200" b="1" dirty="0"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1F0FBC-EDBD-0259-F265-3DC04D241C41}"/>
              </a:ext>
            </a:extLst>
          </p:cNvPr>
          <p:cNvSpPr txBox="1"/>
          <p:nvPr/>
        </p:nvSpPr>
        <p:spPr>
          <a:xfrm>
            <a:off x="1949696" y="1210346"/>
            <a:ext cx="3459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전 세계적인 주목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4B06DA-3CE4-9CF2-77C9-778383FB79AD}"/>
              </a:ext>
            </a:extLst>
          </p:cNvPr>
          <p:cNvSpPr txBox="1"/>
          <p:nvPr/>
        </p:nvSpPr>
        <p:spPr>
          <a:xfrm>
            <a:off x="8365858" y="4051596"/>
            <a:ext cx="3459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인스타 태그만 </a:t>
            </a:r>
            <a:r>
              <a:rPr lang="en-US" altLang="ko-KR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90</a:t>
            </a:r>
            <a:r>
              <a:rPr lang="ko-KR" alt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만 이상</a:t>
            </a:r>
          </a:p>
        </p:txBody>
      </p:sp>
    </p:spTree>
    <p:extLst>
      <p:ext uri="{BB962C8B-B14F-4D97-AF65-F5344CB8AC3E}">
        <p14:creationId xmlns:p14="http://schemas.microsoft.com/office/powerpoint/2010/main" val="245174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6E9B1E-E46E-3288-80FF-772E5EF3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FED9901-3D1B-7C36-3E5D-500755A2EA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7BBF63-AD75-017E-97DD-BABB15484151}"/>
              </a:ext>
            </a:extLst>
          </p:cNvPr>
          <p:cNvSpPr txBox="1"/>
          <p:nvPr/>
        </p:nvSpPr>
        <p:spPr>
          <a:xfrm>
            <a:off x="4047660" y="2132213"/>
            <a:ext cx="4096680" cy="4944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latin typeface="+mj-lt"/>
                <a:ea typeface="맑은 고딕"/>
              </a:rPr>
              <a:t>단순한 커뮤니티</a:t>
            </a:r>
            <a:r>
              <a:rPr lang="en-US" altLang="ko-KR" sz="2000" b="1" dirty="0">
                <a:latin typeface="+mj-lt"/>
                <a:ea typeface="맑은 고딕"/>
              </a:rPr>
              <a:t>, </a:t>
            </a:r>
            <a:r>
              <a:rPr lang="ko-KR" altLang="en-US" sz="2000" b="1" dirty="0">
                <a:latin typeface="+mj-lt"/>
                <a:ea typeface="맑은 고딕"/>
              </a:rPr>
              <a:t>레시피 기록</a:t>
            </a:r>
            <a:endParaRPr lang="en-US" altLang="ko-KR" sz="1600" dirty="0">
              <a:latin typeface="+mj-lt"/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2ACE43-5EE7-3E87-320E-84E99A34E76B}"/>
              </a:ext>
            </a:extLst>
          </p:cNvPr>
          <p:cNvSpPr txBox="1"/>
          <p:nvPr/>
        </p:nvSpPr>
        <p:spPr>
          <a:xfrm>
            <a:off x="4047660" y="3307911"/>
            <a:ext cx="6798312" cy="29182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ea typeface="맑은 고딕"/>
              </a:rPr>
              <a:t>Open API </a:t>
            </a:r>
            <a:r>
              <a:rPr lang="ko-KR" altLang="en-US" sz="2000" b="1" dirty="0">
                <a:ea typeface="맑은 고딕"/>
              </a:rPr>
              <a:t>추천</a:t>
            </a:r>
            <a:r>
              <a:rPr lang="en-US" altLang="ko-KR" sz="2000" dirty="0">
                <a:ea typeface="맑은 고딕"/>
              </a:rPr>
              <a:t> </a:t>
            </a:r>
            <a:r>
              <a:rPr lang="ko-KR" altLang="en-US" sz="1600" dirty="0">
                <a:ea typeface="맑은 고딕"/>
              </a:rPr>
              <a:t>→ 공공데이터 </a:t>
            </a:r>
            <a:r>
              <a:rPr lang="en-US" altLang="ko-KR" sz="1600" dirty="0">
                <a:ea typeface="맑은 고딕"/>
              </a:rPr>
              <a:t>+ </a:t>
            </a:r>
            <a:r>
              <a:rPr lang="ko-KR" altLang="en-US" sz="1600" dirty="0">
                <a:ea typeface="맑은 고딕"/>
              </a:rPr>
              <a:t>위치 기반 정교 추천</a:t>
            </a:r>
            <a:endParaRPr lang="en-US" altLang="ko-KR" sz="2000" b="1" dirty="0">
              <a:latin typeface="+mj-lt"/>
              <a:ea typeface="맑은 고딕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latin typeface="+mj-lt"/>
                <a:ea typeface="맑은 고딕"/>
              </a:rPr>
              <a:t>GPS </a:t>
            </a:r>
            <a:r>
              <a:rPr lang="ko-KR" altLang="en-US" sz="2000" b="1" dirty="0">
                <a:latin typeface="+mj-lt"/>
                <a:ea typeface="맑은 고딕"/>
              </a:rPr>
              <a:t>인증 스탬프 투어</a:t>
            </a:r>
            <a:r>
              <a:rPr lang="ko-KR" altLang="en-US" sz="2000" dirty="0">
                <a:latin typeface="+mj-lt"/>
                <a:ea typeface="맑은 고딕"/>
              </a:rPr>
              <a:t> </a:t>
            </a:r>
            <a:r>
              <a:rPr lang="ko-KR" altLang="en-US" sz="1600" dirty="0">
                <a:ea typeface="맑은 고딕"/>
              </a:rPr>
              <a:t>→</a:t>
            </a:r>
            <a:r>
              <a:rPr lang="en-US" altLang="ko-KR" sz="1600" dirty="0">
                <a:latin typeface="+mj-lt"/>
                <a:ea typeface="맑은 고딕"/>
              </a:rPr>
              <a:t> </a:t>
            </a:r>
            <a:r>
              <a:rPr lang="ko-KR" altLang="en-US" sz="1600" dirty="0">
                <a:latin typeface="+mj-lt"/>
                <a:ea typeface="맑은 고딕"/>
              </a:rPr>
              <a:t>실제 방문 확인 </a:t>
            </a:r>
            <a:r>
              <a:rPr lang="en-US" altLang="ko-KR" sz="1600" dirty="0">
                <a:latin typeface="+mj-lt"/>
                <a:ea typeface="맑은 고딕"/>
              </a:rPr>
              <a:t>&amp;</a:t>
            </a:r>
            <a:r>
              <a:rPr lang="ko-KR" altLang="en-US" sz="1600" dirty="0">
                <a:latin typeface="+mj-lt"/>
                <a:ea typeface="맑은 고딕"/>
              </a:rPr>
              <a:t> 스탬프 수집</a:t>
            </a:r>
            <a:endParaRPr lang="en-US" altLang="ko-KR" sz="2000" dirty="0">
              <a:latin typeface="+mj-lt"/>
              <a:ea typeface="맑은 고딕"/>
            </a:endParaRPr>
          </a:p>
          <a:p>
            <a:pPr>
              <a:lnSpc>
                <a:spcPct val="200000"/>
              </a:lnSpc>
            </a:pPr>
            <a:r>
              <a:rPr lang="ko-KR" altLang="en-US" sz="2000" b="1" dirty="0">
                <a:latin typeface="+mj-lt"/>
                <a:ea typeface="맑은 고딕"/>
              </a:rPr>
              <a:t>지속 가능한 콘텐츠</a:t>
            </a:r>
            <a:r>
              <a:rPr lang="ko-KR" altLang="en-US" sz="2000" dirty="0">
                <a:latin typeface="+mj-lt"/>
                <a:ea typeface="맑은 고딕"/>
              </a:rPr>
              <a:t> </a:t>
            </a:r>
            <a:r>
              <a:rPr lang="ko-KR" altLang="en-US" sz="1600" dirty="0">
                <a:ea typeface="맑은 고딕"/>
              </a:rPr>
              <a:t>→</a:t>
            </a:r>
            <a:r>
              <a:rPr lang="en-US" altLang="ko-KR" sz="1600" dirty="0">
                <a:latin typeface="+mj-lt"/>
                <a:ea typeface="맑은 고딕"/>
              </a:rPr>
              <a:t> </a:t>
            </a:r>
            <a:r>
              <a:rPr lang="ko-KR" altLang="en-US" sz="1600" dirty="0">
                <a:latin typeface="+mj-lt"/>
                <a:ea typeface="맑은 고딕"/>
              </a:rPr>
              <a:t>스탬프 포인트 </a:t>
            </a:r>
            <a:r>
              <a:rPr lang="en-US" altLang="ko-KR" sz="1600" dirty="0">
                <a:latin typeface="+mj-lt"/>
                <a:ea typeface="맑은 고딕"/>
              </a:rPr>
              <a:t>&amp; </a:t>
            </a:r>
            <a:r>
              <a:rPr lang="ko-KR" altLang="en-US" sz="1600" dirty="0">
                <a:latin typeface="+mj-lt"/>
                <a:ea typeface="맑은 고딕"/>
              </a:rPr>
              <a:t>탐방 완료 포인트 지급</a:t>
            </a:r>
            <a:endParaRPr lang="en-US" altLang="ko-KR" sz="2000" b="1" dirty="0">
              <a:ea typeface="맑은 고딕"/>
            </a:endParaRPr>
          </a:p>
          <a:p>
            <a:pPr>
              <a:lnSpc>
                <a:spcPct val="200000"/>
              </a:lnSpc>
            </a:pPr>
            <a:r>
              <a:rPr lang="ko-KR" altLang="en-US" sz="2000" b="1" dirty="0">
                <a:ea typeface="맑은 고딕"/>
              </a:rPr>
              <a:t>소상공인 프로모션 </a:t>
            </a:r>
            <a:r>
              <a:rPr lang="ko-KR" altLang="en-US" sz="1600" dirty="0">
                <a:ea typeface="맑은 고딕"/>
              </a:rPr>
              <a:t>→</a:t>
            </a:r>
            <a:r>
              <a:rPr lang="en-US" altLang="ko-KR" sz="1600" dirty="0">
                <a:ea typeface="맑은 고딕"/>
              </a:rPr>
              <a:t> </a:t>
            </a:r>
            <a:r>
              <a:rPr lang="ko-KR" altLang="en-US" sz="1600" dirty="0" err="1">
                <a:ea typeface="맑은 고딕"/>
              </a:rPr>
              <a:t>신메뉴</a:t>
            </a:r>
            <a:r>
              <a:rPr lang="en-US" altLang="ko-KR" sz="1600" dirty="0">
                <a:ea typeface="맑은 고딕"/>
              </a:rPr>
              <a:t>/</a:t>
            </a:r>
            <a:r>
              <a:rPr lang="ko-KR" altLang="en-US" sz="1600" dirty="0">
                <a:ea typeface="맑은 고딕"/>
              </a:rPr>
              <a:t>이벤트 연동</a:t>
            </a:r>
            <a:r>
              <a:rPr lang="en-US" altLang="ko-KR" sz="1600" dirty="0">
                <a:ea typeface="맑은 고딕"/>
              </a:rPr>
              <a:t>, </a:t>
            </a:r>
            <a:r>
              <a:rPr lang="ko-KR" altLang="en-US" sz="1600" dirty="0">
                <a:ea typeface="맑은 고딕"/>
              </a:rPr>
              <a:t>노출</a:t>
            </a:r>
            <a:endParaRPr lang="en-US" altLang="ko-KR" sz="2000" dirty="0">
              <a:latin typeface="+mj-lt"/>
              <a:ea typeface="맑은 고딕"/>
            </a:endParaRPr>
          </a:p>
          <a:p>
            <a:pPr>
              <a:lnSpc>
                <a:spcPct val="200000"/>
              </a:lnSpc>
            </a:pPr>
            <a:r>
              <a:rPr lang="ko-KR" altLang="en-US" sz="2000" b="1" dirty="0">
                <a:latin typeface="+mj-lt"/>
                <a:ea typeface="맑은 고딕"/>
              </a:rPr>
              <a:t>지역사회 연계 </a:t>
            </a:r>
            <a:r>
              <a:rPr lang="ko-KR" altLang="en-US" sz="1600" dirty="0">
                <a:ea typeface="맑은 고딕"/>
              </a:rPr>
              <a:t>→</a:t>
            </a:r>
            <a:r>
              <a:rPr lang="en-US" altLang="ko-KR" sz="1600" dirty="0">
                <a:latin typeface="+mj-lt"/>
                <a:ea typeface="맑은 고딕"/>
              </a:rPr>
              <a:t> </a:t>
            </a:r>
            <a:r>
              <a:rPr lang="ko-KR" altLang="en-US" sz="1600" dirty="0">
                <a:latin typeface="+mj-lt"/>
                <a:ea typeface="맑은 고딕"/>
              </a:rPr>
              <a:t>지자체</a:t>
            </a:r>
            <a:r>
              <a:rPr lang="en-US" altLang="ko-KR" sz="1600" dirty="0">
                <a:latin typeface="+mj-lt"/>
                <a:ea typeface="맑은 고딕"/>
              </a:rPr>
              <a:t>.</a:t>
            </a:r>
            <a:r>
              <a:rPr lang="ko-KR" altLang="en-US" sz="1600" dirty="0">
                <a:latin typeface="+mj-lt"/>
                <a:ea typeface="맑은 고딕"/>
              </a:rPr>
              <a:t>관광 콘텐츠 협업</a:t>
            </a:r>
            <a:endParaRPr lang="en-US" altLang="ko-KR" sz="2000" dirty="0">
              <a:latin typeface="+mj-lt"/>
              <a:ea typeface="맑은 고딕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AC80859E-68AA-7DBD-2E41-32FEE73AA783}"/>
              </a:ext>
            </a:extLst>
          </p:cNvPr>
          <p:cNvGrpSpPr/>
          <p:nvPr/>
        </p:nvGrpSpPr>
        <p:grpSpPr>
          <a:xfrm>
            <a:off x="2223950" y="1907507"/>
            <a:ext cx="1823711" cy="1425574"/>
            <a:chOff x="1682939" y="1216782"/>
            <a:chExt cx="1823711" cy="1425574"/>
          </a:xfrm>
        </p:grpSpPr>
        <p:pic>
          <p:nvPicPr>
            <p:cNvPr id="8" name="그림 7" descr="그림, 스케치, 만화 영화, 클립아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DD775DC-A5AA-A465-61EA-981717501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2840" y="1216782"/>
              <a:ext cx="943908" cy="943908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1AA68F6-713C-D9C7-7A59-3A95DF7B6E1A}"/>
                </a:ext>
              </a:extLst>
            </p:cNvPr>
            <p:cNvSpPr txBox="1"/>
            <p:nvPr/>
          </p:nvSpPr>
          <p:spPr>
            <a:xfrm>
              <a:off x="1682939" y="2188064"/>
              <a:ext cx="1823711" cy="45429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dirty="0">
                  <a:latin typeface="+mj-lt"/>
                  <a:ea typeface="맑은 고딕"/>
                </a:rPr>
                <a:t>빵일기장</a:t>
              </a:r>
              <a:endParaRPr lang="en-US" altLang="ko-KR" sz="1400" dirty="0">
                <a:latin typeface="+mj-lt"/>
                <a:ea typeface="맑은 고딕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7ABDFDF-BA0E-A186-BD20-4C73F2E31347}"/>
              </a:ext>
            </a:extLst>
          </p:cNvPr>
          <p:cNvGrpSpPr/>
          <p:nvPr/>
        </p:nvGrpSpPr>
        <p:grpSpPr>
          <a:xfrm>
            <a:off x="840139" y="1907506"/>
            <a:ext cx="1823711" cy="1425575"/>
            <a:chOff x="299128" y="1216781"/>
            <a:chExt cx="1823711" cy="1425575"/>
          </a:xfrm>
        </p:grpSpPr>
        <p:pic>
          <p:nvPicPr>
            <p:cNvPr id="10" name="그림 9" descr="클립아트, 만화 영화, 일러스트레이션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3CEAFAF-0065-C575-7FA3-B30A86238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9030" y="1216781"/>
              <a:ext cx="943909" cy="943909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5FC607-3899-4423-1D6E-63D78B93E4F4}"/>
                </a:ext>
              </a:extLst>
            </p:cNvPr>
            <p:cNvSpPr txBox="1"/>
            <p:nvPr/>
          </p:nvSpPr>
          <p:spPr>
            <a:xfrm>
              <a:off x="299128" y="2188064"/>
              <a:ext cx="1823711" cy="45429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dirty="0" err="1">
                  <a:latin typeface="+mj-lt"/>
                  <a:ea typeface="맑은 고딕"/>
                </a:rPr>
                <a:t>빵모닝</a:t>
              </a:r>
              <a:endParaRPr lang="en-US" altLang="ko-KR" sz="1400" dirty="0">
                <a:latin typeface="+mj-lt"/>
                <a:ea typeface="맑은 고딕"/>
              </a:endParaRPr>
            </a:p>
          </p:txBody>
        </p:sp>
      </p:grpSp>
      <p:pic>
        <p:nvPicPr>
          <p:cNvPr id="23" name="그림 22" descr="텍스트, 만화 영화, 일러스트레이션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E1D461-D9E9-7CB0-B80F-BC34DA3152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041" y="3603170"/>
            <a:ext cx="2327718" cy="23277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CD2A3D-AE11-53AE-FB85-7F3856B546C9}"/>
              </a:ext>
            </a:extLst>
          </p:cNvPr>
          <p:cNvSpPr txBox="1"/>
          <p:nvPr/>
        </p:nvSpPr>
        <p:spPr>
          <a:xfrm>
            <a:off x="685621" y="623962"/>
            <a:ext cx="1082075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02. 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기획 및 기능 설명 </a:t>
            </a:r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+ 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기존 앱과 </a:t>
            </a:r>
            <a:r>
              <a:rPr lang="ko-KR" altLang="en-US" sz="4400" b="1" dirty="0" err="1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차별점</a:t>
            </a:r>
            <a:endParaRPr lang="ko-KR" sz="44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267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FF2EE-1B65-5724-9235-A606288D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632F91-5EAD-F1C9-4AAE-C9310A6A0D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래픽 15" descr="그룹 성공 단색으로 채워진">
            <a:extLst>
              <a:ext uri="{FF2B5EF4-FFF2-40B4-BE49-F238E27FC236}">
                <a16:creationId xmlns:a16="http://schemas.microsoft.com/office/drawing/2014/main" id="{9FB7DA84-884A-8CC9-E415-73C78C0D7B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475" y="4266850"/>
            <a:ext cx="2020199" cy="1988543"/>
          </a:xfrm>
          <a:prstGeom prst="rect">
            <a:avLst/>
          </a:prstGeom>
        </p:spPr>
      </p:pic>
      <p:pic>
        <p:nvPicPr>
          <p:cNvPr id="18" name="그래픽 17" descr="남성 요리사 단색으로 채워진">
            <a:extLst>
              <a:ext uri="{FF2B5EF4-FFF2-40B4-BE49-F238E27FC236}">
                <a16:creationId xmlns:a16="http://schemas.microsoft.com/office/drawing/2014/main" id="{2FB5C2E9-E89C-C9FA-2056-B894B62EFF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5913" y="2992639"/>
            <a:ext cx="1440987" cy="1440987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CC558374-6290-762D-6D6D-0D93B70C0B84}"/>
              </a:ext>
            </a:extLst>
          </p:cNvPr>
          <p:cNvGrpSpPr/>
          <p:nvPr/>
        </p:nvGrpSpPr>
        <p:grpSpPr>
          <a:xfrm>
            <a:off x="1214500" y="1636347"/>
            <a:ext cx="1299765" cy="1299765"/>
            <a:chOff x="1568024" y="1706741"/>
            <a:chExt cx="2156430" cy="2156430"/>
          </a:xfrm>
        </p:grpSpPr>
        <p:pic>
          <p:nvPicPr>
            <p:cNvPr id="22" name="그래픽 21" descr="화폐 단색으로 채워진">
              <a:extLst>
                <a:ext uri="{FF2B5EF4-FFF2-40B4-BE49-F238E27FC236}">
                  <a16:creationId xmlns:a16="http://schemas.microsoft.com/office/drawing/2014/main" id="{8E2C7DE2-44DA-A979-98B0-45423D541E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573412">
              <a:off x="2994327" y="2513930"/>
              <a:ext cx="650914" cy="650914"/>
            </a:xfrm>
            <a:prstGeom prst="rect">
              <a:avLst/>
            </a:prstGeom>
          </p:spPr>
        </p:pic>
        <p:pic>
          <p:nvPicPr>
            <p:cNvPr id="24" name="그래픽 23" descr="남자 단색으로 채워진">
              <a:extLst>
                <a:ext uri="{FF2B5EF4-FFF2-40B4-BE49-F238E27FC236}">
                  <a16:creationId xmlns:a16="http://schemas.microsoft.com/office/drawing/2014/main" id="{C95E9393-A1D2-9BEB-6470-C8A56F7929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68024" y="1706741"/>
              <a:ext cx="2156430" cy="215643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DE6B4C2E-6796-DAF3-052E-06CA9EA9F50B}"/>
              </a:ext>
            </a:extLst>
          </p:cNvPr>
          <p:cNvSpPr txBox="1"/>
          <p:nvPr/>
        </p:nvSpPr>
        <p:spPr>
          <a:xfrm>
            <a:off x="2966149" y="1980482"/>
            <a:ext cx="446539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+mj-lt"/>
                <a:ea typeface="맑은 고딕"/>
              </a:rPr>
              <a:t>소비자</a:t>
            </a:r>
            <a:endParaRPr lang="en-US" altLang="ko-KR" sz="2000" b="1" dirty="0">
              <a:latin typeface="+mj-lt"/>
              <a:ea typeface="맑은 고딕"/>
            </a:endParaRPr>
          </a:p>
          <a:p>
            <a:r>
              <a:rPr lang="ko-KR" altLang="en-US" dirty="0"/>
              <a:t>동네 속 숨은 베이커리 발견의 즐거움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BE1427-442B-2AB2-BFA3-BAD52D9C1E62}"/>
              </a:ext>
            </a:extLst>
          </p:cNvPr>
          <p:cNvSpPr txBox="1"/>
          <p:nvPr/>
        </p:nvSpPr>
        <p:spPr>
          <a:xfrm>
            <a:off x="5300514" y="3236078"/>
            <a:ext cx="44653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2000" b="1" dirty="0">
                <a:latin typeface="+mj-lt"/>
                <a:ea typeface="맑은 고딕"/>
              </a:rPr>
              <a:t>소상공인</a:t>
            </a:r>
            <a:endParaRPr lang="en-US" altLang="ko-KR" sz="2000" b="1" dirty="0">
              <a:latin typeface="+mj-lt"/>
              <a:ea typeface="맑은 고딕"/>
            </a:endParaRPr>
          </a:p>
          <a:p>
            <a:pPr algn="r"/>
            <a:r>
              <a:rPr lang="ko-KR" altLang="en-US" dirty="0">
                <a:latin typeface="+mj-lt"/>
                <a:ea typeface="맑은 고딕"/>
              </a:rPr>
              <a:t>신규 고객 유입 및 브랜드 노출 확대</a:t>
            </a:r>
            <a:endParaRPr lang="en-US" altLang="ko-KR" dirty="0">
              <a:latin typeface="+mj-lt"/>
              <a:ea typeface="맑은 고딕"/>
            </a:endParaRPr>
          </a:p>
          <a:p>
            <a:pPr algn="r"/>
            <a:r>
              <a:rPr lang="ko-KR" altLang="en-US" dirty="0">
                <a:latin typeface="+mj-lt"/>
                <a:ea typeface="맑은 고딕"/>
              </a:rPr>
              <a:t>플랫폼을 통한 매출 증대 기회 확보</a:t>
            </a:r>
            <a:endParaRPr lang="en-US" altLang="ko-KR" dirty="0">
              <a:latin typeface="+mj-lt"/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533CA4-877F-4507-C101-613EE14668CB}"/>
              </a:ext>
            </a:extLst>
          </p:cNvPr>
          <p:cNvSpPr txBox="1"/>
          <p:nvPr/>
        </p:nvSpPr>
        <p:spPr>
          <a:xfrm>
            <a:off x="2966149" y="4784067"/>
            <a:ext cx="50194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+mj-lt"/>
                <a:ea typeface="맑은 고딕"/>
              </a:rPr>
              <a:t>지역사회</a:t>
            </a:r>
            <a:endParaRPr lang="en-US" altLang="ko-KR" sz="2000" b="1" dirty="0">
              <a:latin typeface="+mj-lt"/>
              <a:ea typeface="맑은 고딕"/>
            </a:endParaRPr>
          </a:p>
          <a:p>
            <a:r>
              <a:rPr lang="ko-KR" altLang="en-US" dirty="0">
                <a:latin typeface="+mj-lt"/>
                <a:ea typeface="맑은 고딕"/>
              </a:rPr>
              <a:t>골목 상권 활성화 및 지역 경제 순환 기여</a:t>
            </a:r>
            <a:endParaRPr lang="en-US" altLang="ko-KR" dirty="0">
              <a:latin typeface="+mj-lt"/>
              <a:ea typeface="맑은 고딕"/>
            </a:endParaRPr>
          </a:p>
          <a:p>
            <a:r>
              <a:rPr lang="ko-KR" altLang="en-US" dirty="0">
                <a:latin typeface="+mj-lt"/>
                <a:ea typeface="맑은 고딕"/>
              </a:rPr>
              <a:t>개성 있는 로컬 브랜드 발굴 및 성장 기원</a:t>
            </a:r>
            <a:endParaRPr lang="en-US" altLang="ko-KR" dirty="0">
              <a:latin typeface="+mj-lt"/>
              <a:ea typeface="맑은 고딕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3237EC-70E2-6DE5-4DFE-31CF3710852D}"/>
              </a:ext>
            </a:extLst>
          </p:cNvPr>
          <p:cNvSpPr txBox="1"/>
          <p:nvPr/>
        </p:nvSpPr>
        <p:spPr>
          <a:xfrm>
            <a:off x="747130" y="623962"/>
            <a:ext cx="1069773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03. 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기대효과</a:t>
            </a:r>
            <a:endParaRPr lang="ko-KR" sz="44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9928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FF2EE-1B65-5724-9235-A606288D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632F91-5EAD-F1C9-4AAE-C9310A6A0D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98" y="1805452"/>
            <a:ext cx="10408802" cy="37821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CF9C74-B35C-7617-A843-258270A12F0D}"/>
              </a:ext>
            </a:extLst>
          </p:cNvPr>
          <p:cNvSpPr txBox="1"/>
          <p:nvPr/>
        </p:nvSpPr>
        <p:spPr>
          <a:xfrm>
            <a:off x="747130" y="623962"/>
            <a:ext cx="1069773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03. 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활용 방안</a:t>
            </a:r>
            <a:endParaRPr lang="ko-KR" sz="44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458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FC9E94-C83D-B996-944D-E4D97ADA6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2AFC27-122B-7D29-018A-8EABB530B5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717DB74C-A9BC-01EF-3E45-91DE8ABFBE19}"/>
              </a:ext>
            </a:extLst>
          </p:cNvPr>
          <p:cNvGrpSpPr/>
          <p:nvPr/>
        </p:nvGrpSpPr>
        <p:grpSpPr>
          <a:xfrm>
            <a:off x="3232722" y="1759364"/>
            <a:ext cx="2056565" cy="1644955"/>
            <a:chOff x="2402426" y="1415142"/>
            <a:chExt cx="2056565" cy="1644955"/>
          </a:xfrm>
        </p:grpSpPr>
        <p:pic>
          <p:nvPicPr>
            <p:cNvPr id="15" name="그림 14" descr="다채로움, 그래픽, 원, 창의성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BAC2184-C714-DA9C-5BF6-2DD59611B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02426" y="2031241"/>
              <a:ext cx="654952" cy="1028856"/>
            </a:xfrm>
            <a:prstGeom prst="rect">
              <a:avLst/>
            </a:prstGeom>
          </p:spPr>
        </p:pic>
        <p:pic>
          <p:nvPicPr>
            <p:cNvPr id="18" name="그림 17" descr="그래픽, 폰트, 스크린샷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34ACA22-E10A-8302-9B3D-6E8E5B906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77317" y="2030183"/>
              <a:ext cx="1081674" cy="1016992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1174B3-8347-C1D6-4A8F-CDE4E4EAF8EA}"/>
                </a:ext>
              </a:extLst>
            </p:cNvPr>
            <p:cNvSpPr txBox="1"/>
            <p:nvPr/>
          </p:nvSpPr>
          <p:spPr>
            <a:xfrm>
              <a:off x="2460170" y="1415142"/>
              <a:ext cx="182880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b="1" dirty="0" err="1">
                  <a:ea typeface="맑은 고딕"/>
                </a:rPr>
                <a:t>Design</a:t>
              </a:r>
              <a:r>
                <a:rPr lang="ko-KR" altLang="en-US" b="1" dirty="0">
                  <a:ea typeface="맑은 고딕"/>
                </a:rPr>
                <a:t> Tool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733284D-6CF0-37FC-EB67-692D4C61B072}"/>
              </a:ext>
            </a:extLst>
          </p:cNvPr>
          <p:cNvGrpSpPr/>
          <p:nvPr/>
        </p:nvGrpSpPr>
        <p:grpSpPr>
          <a:xfrm>
            <a:off x="7005302" y="1759364"/>
            <a:ext cx="2502140" cy="1639012"/>
            <a:chOff x="5091439" y="707571"/>
            <a:chExt cx="2502140" cy="1639012"/>
          </a:xfrm>
        </p:grpSpPr>
        <p:pic>
          <p:nvPicPr>
            <p:cNvPr id="12" name="그림 11" descr="클립아트, 아동 미술, 만화 영화, 예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5E0EB1A-6BEB-6A6F-678E-678F138F3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9966" y="1316159"/>
              <a:ext cx="1083613" cy="1030424"/>
            </a:xfrm>
            <a:prstGeom prst="rect">
              <a:avLst/>
            </a:prstGeom>
          </p:spPr>
        </p:pic>
        <p:pic>
          <p:nvPicPr>
            <p:cNvPr id="16" name="그림 15" descr="그래픽, 스크린샷, 일렉트릭 블루, 상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C929EAE-502E-5B6E-BC08-A28F22544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91439" y="1310023"/>
              <a:ext cx="1092930" cy="1028735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985BDCB-D623-0F78-4DF6-130028F6057D}"/>
                </a:ext>
              </a:extLst>
            </p:cNvPr>
            <p:cNvSpPr txBox="1"/>
            <p:nvPr/>
          </p:nvSpPr>
          <p:spPr>
            <a:xfrm>
              <a:off x="5431970" y="707571"/>
              <a:ext cx="182880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b="1" dirty="0" err="1">
                  <a:ea typeface="맑은 고딕"/>
                </a:rPr>
                <a:t>Dev</a:t>
              </a:r>
              <a:r>
                <a:rPr lang="ko-KR" altLang="en-US" b="1" dirty="0">
                  <a:ea typeface="맑은 고딕"/>
                </a:rPr>
                <a:t> Tool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FB3EA34C-9507-F5BA-0593-C5E30CDBCAE1}"/>
              </a:ext>
            </a:extLst>
          </p:cNvPr>
          <p:cNvGrpSpPr/>
          <p:nvPr/>
        </p:nvGrpSpPr>
        <p:grpSpPr>
          <a:xfrm>
            <a:off x="5176502" y="4154033"/>
            <a:ext cx="1828800" cy="1681288"/>
            <a:chOff x="5176502" y="3947556"/>
            <a:chExt cx="1828800" cy="168128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86BC652-CD4D-4EB1-9C9D-88346A660B9E}"/>
                </a:ext>
              </a:extLst>
            </p:cNvPr>
            <p:cNvSpPr txBox="1"/>
            <p:nvPr/>
          </p:nvSpPr>
          <p:spPr>
            <a:xfrm>
              <a:off x="5176502" y="3947556"/>
              <a:ext cx="182880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b="1" dirty="0" err="1">
                  <a:ea typeface="맑은 고딕"/>
                </a:rPr>
                <a:t>Back-End</a:t>
              </a:r>
              <a:endParaRPr lang="ko-KR" dirty="0" err="1"/>
            </a:p>
          </p:txBody>
        </p:sp>
        <p:pic>
          <p:nvPicPr>
            <p:cNvPr id="17" name="그림 16" descr="스크린샷, 그래픽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C31A2DD-88FA-0EC7-4B0D-4F2CF1EBB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72698" y="4590308"/>
              <a:ext cx="1636407" cy="1038536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FF12028-EFF6-6668-0A74-21F4BE6A1B64}"/>
              </a:ext>
            </a:extLst>
          </p:cNvPr>
          <p:cNvGrpSpPr/>
          <p:nvPr/>
        </p:nvGrpSpPr>
        <p:grpSpPr>
          <a:xfrm>
            <a:off x="8450025" y="4154033"/>
            <a:ext cx="2327888" cy="1542242"/>
            <a:chOff x="8450025" y="3947556"/>
            <a:chExt cx="2327888" cy="1542242"/>
          </a:xfrm>
        </p:grpSpPr>
        <p:pic>
          <p:nvPicPr>
            <p:cNvPr id="3" name="그림 2" descr="그래픽, 텍스트, 폰트, 그래픽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46AC799-30B2-4AA1-5749-0B6E185B2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450025" y="4455759"/>
              <a:ext cx="2327888" cy="1034039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9CD5385-CCF1-04B7-7CD5-337753D1DC59}"/>
                </a:ext>
              </a:extLst>
            </p:cNvPr>
            <p:cNvSpPr txBox="1"/>
            <p:nvPr/>
          </p:nvSpPr>
          <p:spPr>
            <a:xfrm>
              <a:off x="8699612" y="3947556"/>
              <a:ext cx="182880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b="1" dirty="0">
                  <a:ea typeface="맑은 고딕"/>
                </a:rPr>
                <a:t>DB/DBMS</a:t>
              </a:r>
              <a:endParaRPr lang="ko-KR" dirty="0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8FAA920-8F07-8D01-6A97-C5348434DDD8}"/>
              </a:ext>
            </a:extLst>
          </p:cNvPr>
          <p:cNvGrpSpPr/>
          <p:nvPr/>
        </p:nvGrpSpPr>
        <p:grpSpPr>
          <a:xfrm>
            <a:off x="1434993" y="4154033"/>
            <a:ext cx="2452420" cy="1806397"/>
            <a:chOff x="1240971" y="4234542"/>
            <a:chExt cx="2452420" cy="1806397"/>
          </a:xfrm>
        </p:grpSpPr>
        <p:pic>
          <p:nvPicPr>
            <p:cNvPr id="14" name="그림 13" descr="폰트, 그래픽, 상징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9E7F67A-1F9B-41D5-9542-9A7D48FA7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84009" y="4742745"/>
              <a:ext cx="1309382" cy="129819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95860C1-3A4B-DFE2-0F0B-ACC5B1022482}"/>
                </a:ext>
              </a:extLst>
            </p:cNvPr>
            <p:cNvSpPr txBox="1"/>
            <p:nvPr/>
          </p:nvSpPr>
          <p:spPr>
            <a:xfrm>
              <a:off x="1469568" y="4234542"/>
              <a:ext cx="182880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b="1" dirty="0" err="1">
                  <a:ea typeface="맑은 고딕"/>
                </a:rPr>
                <a:t>Front-End</a:t>
              </a:r>
              <a:endParaRPr lang="ko-KR" dirty="0" err="1"/>
            </a:p>
          </p:txBody>
        </p:sp>
        <p:pic>
          <p:nvPicPr>
            <p:cNvPr id="34" name="그림 33" descr="다채로움, 보라색, 바이올렛색, 라일락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D9546DE-9BB1-5C99-97C6-ED2EAC39B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40971" y="4974771"/>
              <a:ext cx="816429" cy="827316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722CD93-406D-D2F7-AAD7-21CA516F657A}"/>
              </a:ext>
            </a:extLst>
          </p:cNvPr>
          <p:cNvSpPr txBox="1"/>
          <p:nvPr/>
        </p:nvSpPr>
        <p:spPr>
          <a:xfrm>
            <a:off x="747130" y="623962"/>
            <a:ext cx="1069773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04. 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개발 환경</a:t>
            </a:r>
            <a:endParaRPr lang="ko-KR" sz="44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709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73299-0C57-F847-630A-CA6A49F16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7146342-E77F-5584-674A-70DB07521B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F13EBE-30BB-17C4-E79A-8062FB41EBAA}"/>
              </a:ext>
            </a:extLst>
          </p:cNvPr>
          <p:cNvSpPr txBox="1"/>
          <p:nvPr/>
        </p:nvSpPr>
        <p:spPr>
          <a:xfrm>
            <a:off x="1076325" y="1557422"/>
            <a:ext cx="1828800" cy="7386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ea typeface="맑은 고딕"/>
              </a:rPr>
              <a:t>1</a:t>
            </a:r>
            <a:r>
              <a:rPr lang="ko-KR" altLang="en-US" b="1" dirty="0">
                <a:ea typeface="맑은 고딕"/>
              </a:rPr>
              <a:t>주차</a:t>
            </a:r>
            <a:endParaRPr lang="en-US" altLang="ko-KR" b="1" dirty="0">
              <a:ea typeface="맑은 고딕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00" b="1" dirty="0">
                <a:ea typeface="맑은 고딕"/>
              </a:rPr>
              <a:t>07.01~07.06</a:t>
            </a:r>
            <a:endParaRPr lang="ko-KR" altLang="en-US" sz="1000" b="1" dirty="0"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DEB34A-2CF5-4243-FF9F-0695778A5FB6}"/>
              </a:ext>
            </a:extLst>
          </p:cNvPr>
          <p:cNvSpPr txBox="1"/>
          <p:nvPr/>
        </p:nvSpPr>
        <p:spPr>
          <a:xfrm>
            <a:off x="3814396" y="1557422"/>
            <a:ext cx="1828800" cy="7386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ea typeface="맑은 고딕"/>
              </a:rPr>
              <a:t>2</a:t>
            </a:r>
            <a:r>
              <a:rPr lang="ko-KR" altLang="en-US" b="1" dirty="0">
                <a:ea typeface="맑은 고딕"/>
              </a:rPr>
              <a:t>주차</a:t>
            </a:r>
            <a:endParaRPr lang="en-US" altLang="ko-KR" b="1" dirty="0">
              <a:ea typeface="맑은 고딕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00" b="1" dirty="0">
                <a:ea typeface="맑은 고딕"/>
              </a:rPr>
              <a:t>07.07~07.13</a:t>
            </a:r>
            <a:endParaRPr lang="ko-KR" altLang="en-US" sz="1000" b="1" dirty="0"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A9DAD8-0D76-4701-C80A-197EB13D6150}"/>
              </a:ext>
            </a:extLst>
          </p:cNvPr>
          <p:cNvSpPr txBox="1"/>
          <p:nvPr/>
        </p:nvSpPr>
        <p:spPr>
          <a:xfrm>
            <a:off x="6543674" y="1557422"/>
            <a:ext cx="1828800" cy="7386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ea typeface="맑은 고딕"/>
              </a:rPr>
              <a:t>3</a:t>
            </a:r>
            <a:r>
              <a:rPr lang="ko-KR" altLang="en-US" b="1" dirty="0">
                <a:ea typeface="맑은 고딕"/>
              </a:rPr>
              <a:t>주차</a:t>
            </a:r>
            <a:endParaRPr lang="en-US" altLang="ko-KR" b="1" dirty="0">
              <a:ea typeface="맑은 고딕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00" b="1" dirty="0">
                <a:ea typeface="맑은 고딕"/>
              </a:rPr>
              <a:t>07.14~07.20</a:t>
            </a:r>
            <a:endParaRPr lang="ko-KR" altLang="en-US" sz="1000" b="1" dirty="0"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23CF05-09FD-D48E-5DC1-452FABC347C7}"/>
              </a:ext>
            </a:extLst>
          </p:cNvPr>
          <p:cNvSpPr txBox="1"/>
          <p:nvPr/>
        </p:nvSpPr>
        <p:spPr>
          <a:xfrm>
            <a:off x="9294198" y="1564163"/>
            <a:ext cx="1828800" cy="7386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ea typeface="맑은 고딕"/>
              </a:rPr>
              <a:t>4</a:t>
            </a:r>
            <a:r>
              <a:rPr lang="ko-KR" altLang="en-US" b="1" dirty="0">
                <a:ea typeface="맑은 고딕"/>
              </a:rPr>
              <a:t>주차</a:t>
            </a:r>
            <a:endParaRPr lang="en-US" altLang="ko-KR" b="1" dirty="0">
              <a:ea typeface="맑은 고딕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00" b="1" dirty="0">
                <a:ea typeface="맑은 고딕"/>
              </a:rPr>
              <a:t>07.21~07.25</a:t>
            </a:r>
            <a:endParaRPr lang="ko-KR" altLang="en-US" sz="1000" b="1" dirty="0">
              <a:ea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96A069-698A-AE27-EA71-CDB0164E1117}"/>
              </a:ext>
            </a:extLst>
          </p:cNvPr>
          <p:cNvSpPr txBox="1"/>
          <p:nvPr/>
        </p:nvSpPr>
        <p:spPr>
          <a:xfrm>
            <a:off x="912717" y="2412593"/>
            <a:ext cx="2116685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  <a:ea typeface="맑은 고딕"/>
              </a:rPr>
              <a:t>기획 및 설계</a:t>
            </a:r>
            <a:endParaRPr lang="en-US" altLang="ko-KR" sz="1400" b="1" dirty="0">
              <a:solidFill>
                <a:schemeClr val="accent2">
                  <a:lumMod val="75000"/>
                </a:schemeClr>
              </a:solidFill>
              <a:ea typeface="맑은 고딕"/>
            </a:endParaRPr>
          </a:p>
          <a:p>
            <a:pPr algn="ctr"/>
            <a:endParaRPr lang="en-US" altLang="ko-KR" sz="1000" b="1" dirty="0">
              <a:ea typeface="맑은 고딕"/>
            </a:endParaRPr>
          </a:p>
          <a:p>
            <a:pPr algn="ctr"/>
            <a:endParaRPr lang="en-US" altLang="ko-KR" sz="1000" b="1" dirty="0">
              <a:ea typeface="맑은 고딕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ea typeface="맑은 고딕"/>
              </a:rPr>
              <a:t>주제 선정</a:t>
            </a:r>
            <a:endParaRPr lang="en-US" altLang="ko-KR" sz="1200" b="1" dirty="0">
              <a:ea typeface="맑은 고딕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ea typeface="맑은 고딕"/>
              </a:rPr>
              <a:t>개발 환경 세팅</a:t>
            </a:r>
            <a:endParaRPr lang="en-US" altLang="ko-KR" sz="1200" b="1" dirty="0">
              <a:ea typeface="맑은 고딕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ea typeface="맑은 고딕"/>
              </a:rPr>
              <a:t>벤치마킹</a:t>
            </a:r>
            <a:endParaRPr lang="en-US" altLang="ko-KR" sz="1200" b="1" dirty="0">
              <a:ea typeface="맑은 고딕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ea typeface="맑은 고딕"/>
              </a:rPr>
              <a:t>와이어 프레임 제작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1AA2FD-FEEA-3943-6B91-30EC03A1BB38}"/>
              </a:ext>
            </a:extLst>
          </p:cNvPr>
          <p:cNvSpPr txBox="1"/>
          <p:nvPr/>
        </p:nvSpPr>
        <p:spPr>
          <a:xfrm>
            <a:off x="3654267" y="2419334"/>
            <a:ext cx="2116685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  <a:ea typeface="맑은 고딕"/>
              </a:rPr>
              <a:t>UI/UX </a:t>
            </a:r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  <a:ea typeface="맑은 고딕"/>
              </a:rPr>
              <a:t>디자인</a:t>
            </a:r>
            <a:endParaRPr lang="en-US" altLang="ko-KR" sz="1400" b="1" dirty="0">
              <a:solidFill>
                <a:schemeClr val="accent2">
                  <a:lumMod val="75000"/>
                </a:schemeClr>
              </a:solidFill>
              <a:ea typeface="맑은 고딕"/>
            </a:endParaRPr>
          </a:p>
          <a:p>
            <a:pPr algn="ctr"/>
            <a:endParaRPr lang="en-US" altLang="ko-KR" sz="1400" b="1" dirty="0">
              <a:ea typeface="맑은 고딕"/>
            </a:endParaRPr>
          </a:p>
          <a:p>
            <a:pPr algn="ctr"/>
            <a:endParaRPr lang="en-US" altLang="ko-KR" sz="1000" b="1" dirty="0">
              <a:ea typeface="맑은 고딕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ea typeface="맑은 고딕"/>
              </a:rPr>
              <a:t>스타일 가이드</a:t>
            </a:r>
            <a:endParaRPr lang="en-US" altLang="ko-KR" sz="1200" b="1" dirty="0">
              <a:ea typeface="맑은 고딕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ea typeface="맑은 고딕"/>
              </a:rPr>
              <a:t>프로토타입</a:t>
            </a:r>
            <a:endParaRPr lang="en-US" altLang="ko-KR" sz="1200" b="1" dirty="0">
              <a:ea typeface="맑은 고딕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dirty="0" err="1">
                <a:ea typeface="맑은 고딕"/>
              </a:rPr>
              <a:t>목업</a:t>
            </a:r>
            <a:endParaRPr lang="en-US" altLang="ko-KR" sz="1200" b="1" dirty="0">
              <a:ea typeface="맑은 고딕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ko-KR" altLang="en-US" sz="1200" b="1" dirty="0">
              <a:ea typeface="맑은 고딕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F8C832-8CE0-D009-47DA-DA3E2357E63A}"/>
              </a:ext>
            </a:extLst>
          </p:cNvPr>
          <p:cNvSpPr txBox="1"/>
          <p:nvPr/>
        </p:nvSpPr>
        <p:spPr>
          <a:xfrm>
            <a:off x="6380066" y="2412593"/>
            <a:ext cx="2116685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  <a:ea typeface="맑은 고딕"/>
              </a:rPr>
              <a:t>퍼블리싱</a:t>
            </a:r>
            <a:endParaRPr lang="en-US" altLang="ko-KR" sz="1400" b="1" dirty="0">
              <a:solidFill>
                <a:schemeClr val="accent2">
                  <a:lumMod val="75000"/>
                </a:schemeClr>
              </a:solidFill>
              <a:ea typeface="맑은 고딕"/>
            </a:endParaRPr>
          </a:p>
          <a:p>
            <a:pPr algn="ctr"/>
            <a:endParaRPr lang="en-US" altLang="ko-KR" sz="1000" b="1" dirty="0">
              <a:ea typeface="맑은 고딕"/>
            </a:endParaRPr>
          </a:p>
          <a:p>
            <a:pPr algn="ctr"/>
            <a:endParaRPr lang="en-US" altLang="ko-KR" sz="1000" b="1" dirty="0">
              <a:ea typeface="맑은 고딕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b="1" dirty="0">
                <a:ea typeface="맑은 고딕"/>
              </a:rPr>
              <a:t>Mobile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b="1" dirty="0">
                <a:ea typeface="맑은 고딕"/>
              </a:rPr>
              <a:t>Tablet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b="1" dirty="0">
                <a:ea typeface="맑은 고딕"/>
              </a:rPr>
              <a:t>PC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FDC7BB-4D57-AD71-32A6-3DEC969DCE48}"/>
              </a:ext>
            </a:extLst>
          </p:cNvPr>
          <p:cNvSpPr txBox="1"/>
          <p:nvPr/>
        </p:nvSpPr>
        <p:spPr>
          <a:xfrm>
            <a:off x="9130590" y="2412592"/>
            <a:ext cx="2116685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  <a:ea typeface="맑은 고딕"/>
              </a:rPr>
              <a:t>Front-End</a:t>
            </a:r>
          </a:p>
          <a:p>
            <a:pPr algn="ctr"/>
            <a:endParaRPr lang="en-US" altLang="ko-KR" sz="1000" b="1" dirty="0">
              <a:ea typeface="맑은 고딕"/>
            </a:endParaRPr>
          </a:p>
          <a:p>
            <a:pPr algn="ctr"/>
            <a:endParaRPr lang="en-US" altLang="ko-KR" sz="1000" b="1" dirty="0">
              <a:ea typeface="맑은 고딕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ea typeface="맑은 고딕"/>
              </a:rPr>
              <a:t>수정 및 보안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2C491E-2324-8A2E-3D6A-B7FB8AB2B88B}"/>
              </a:ext>
            </a:extLst>
          </p:cNvPr>
          <p:cNvSpPr txBox="1"/>
          <p:nvPr/>
        </p:nvSpPr>
        <p:spPr>
          <a:xfrm>
            <a:off x="6380066" y="3878924"/>
            <a:ext cx="2116685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  <a:ea typeface="맑은 고딕"/>
              </a:rPr>
              <a:t>Back-End</a:t>
            </a:r>
          </a:p>
          <a:p>
            <a:pPr algn="ctr"/>
            <a:endParaRPr lang="en-US" altLang="ko-KR" sz="1000" b="1" dirty="0">
              <a:ea typeface="맑은 고딕"/>
            </a:endParaRPr>
          </a:p>
          <a:p>
            <a:pPr algn="ctr"/>
            <a:endParaRPr lang="en-US" altLang="ko-KR" sz="1000" b="1" dirty="0">
              <a:ea typeface="맑은 고딕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ea typeface="맑은 고딕"/>
              </a:rPr>
              <a:t>동적 구현</a:t>
            </a:r>
            <a:endParaRPr lang="en-US" altLang="ko-KR" sz="1200" b="1" dirty="0">
              <a:ea typeface="맑은 고딕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b="1" dirty="0">
                <a:ea typeface="맑은 고딕"/>
              </a:rPr>
              <a:t>API </a:t>
            </a:r>
            <a:r>
              <a:rPr lang="ko-KR" altLang="en-US" sz="1200" b="1" dirty="0">
                <a:ea typeface="맑은 고딕"/>
              </a:rPr>
              <a:t>활용</a:t>
            </a:r>
            <a:endParaRPr lang="en-US" altLang="ko-KR" sz="1200" b="1" dirty="0">
              <a:ea typeface="맑은 고딕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b="1" dirty="0">
                <a:ea typeface="맑은 고딕"/>
              </a:rPr>
              <a:t>GPS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2FD6EA-BFD0-2323-9A67-A3E2FB806C07}"/>
              </a:ext>
            </a:extLst>
          </p:cNvPr>
          <p:cNvSpPr txBox="1"/>
          <p:nvPr/>
        </p:nvSpPr>
        <p:spPr>
          <a:xfrm>
            <a:off x="9130590" y="3878924"/>
            <a:ext cx="2116685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  <a:ea typeface="맑은 고딕"/>
              </a:rPr>
              <a:t>Back-End</a:t>
            </a:r>
          </a:p>
          <a:p>
            <a:pPr algn="ctr"/>
            <a:endParaRPr lang="en-US" altLang="ko-KR" sz="1000" b="1" dirty="0">
              <a:ea typeface="맑은 고딕"/>
            </a:endParaRPr>
          </a:p>
          <a:p>
            <a:pPr algn="ctr"/>
            <a:endParaRPr lang="en-US" altLang="ko-KR" sz="1000" b="1" dirty="0">
              <a:ea typeface="맑은 고딕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ea typeface="맑은 고딕"/>
              </a:rPr>
              <a:t>수정 및 보안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17E2D8-404C-89D1-B087-429F9BE8A357}"/>
              </a:ext>
            </a:extLst>
          </p:cNvPr>
          <p:cNvSpPr txBox="1"/>
          <p:nvPr/>
        </p:nvSpPr>
        <p:spPr>
          <a:xfrm>
            <a:off x="9130590" y="5418869"/>
            <a:ext cx="2116685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  <a:ea typeface="맑은 고딕"/>
              </a:rPr>
              <a:t>마무리</a:t>
            </a:r>
            <a:endParaRPr lang="en-US" altLang="ko-KR" sz="1400" b="1" dirty="0">
              <a:solidFill>
                <a:schemeClr val="accent2">
                  <a:lumMod val="75000"/>
                </a:schemeClr>
              </a:solidFill>
              <a:ea typeface="맑은 고딕"/>
            </a:endParaRPr>
          </a:p>
          <a:p>
            <a:pPr algn="ctr"/>
            <a:endParaRPr lang="en-US" altLang="ko-KR" sz="1000" b="1" dirty="0">
              <a:ea typeface="맑은 고딕"/>
            </a:endParaRPr>
          </a:p>
          <a:p>
            <a:pPr algn="ctr"/>
            <a:endParaRPr lang="en-US" altLang="ko-KR" sz="1000" b="1" dirty="0">
              <a:ea typeface="맑은 고딕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ea typeface="맑은 고딕"/>
              </a:rPr>
              <a:t>마지막 테스트 및 점검</a:t>
            </a:r>
            <a:endParaRPr lang="en-US" altLang="ko-KR" sz="1200" b="1" dirty="0">
              <a:ea typeface="맑은 고딕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ea typeface="맑은 고딕"/>
              </a:rPr>
              <a:t>발표 준비</a:t>
            </a:r>
            <a:endParaRPr lang="en-US" altLang="ko-KR" sz="1200" b="1" dirty="0">
              <a:ea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311F83-03B2-762A-AA79-D27927FA6EFD}"/>
              </a:ext>
            </a:extLst>
          </p:cNvPr>
          <p:cNvSpPr txBox="1"/>
          <p:nvPr/>
        </p:nvSpPr>
        <p:spPr>
          <a:xfrm>
            <a:off x="3638514" y="3884922"/>
            <a:ext cx="2116685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  <a:ea typeface="맑은 고딕"/>
              </a:rPr>
              <a:t>퍼블리싱</a:t>
            </a:r>
            <a:endParaRPr lang="en-US" altLang="ko-KR" sz="1400" b="1" dirty="0">
              <a:solidFill>
                <a:schemeClr val="accent2">
                  <a:lumMod val="75000"/>
                </a:schemeClr>
              </a:solidFill>
              <a:ea typeface="맑은 고딕"/>
            </a:endParaRPr>
          </a:p>
          <a:p>
            <a:pPr algn="ctr"/>
            <a:endParaRPr lang="en-US" altLang="ko-KR" sz="1000" b="1" dirty="0">
              <a:ea typeface="맑은 고딕"/>
            </a:endParaRPr>
          </a:p>
          <a:p>
            <a:pPr algn="ctr"/>
            <a:endParaRPr lang="en-US" altLang="ko-KR" sz="1000" b="1" dirty="0">
              <a:ea typeface="맑은 고딕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b="1" dirty="0">
                <a:ea typeface="맑은 고딕"/>
              </a:rPr>
              <a:t>Mobile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b="1" dirty="0">
                <a:ea typeface="맑은 고딕"/>
              </a:rPr>
              <a:t>Tablet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b="1" dirty="0">
                <a:ea typeface="맑은 고딕"/>
              </a:rPr>
              <a:t>PC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0AD239-CBD1-2F56-1EB2-6848B0BF402E}"/>
              </a:ext>
            </a:extLst>
          </p:cNvPr>
          <p:cNvSpPr txBox="1"/>
          <p:nvPr/>
        </p:nvSpPr>
        <p:spPr>
          <a:xfrm>
            <a:off x="3638514" y="5418869"/>
            <a:ext cx="2116685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  <a:ea typeface="맑은 고딕"/>
              </a:rPr>
              <a:t>Back-End</a:t>
            </a:r>
          </a:p>
          <a:p>
            <a:pPr algn="ctr"/>
            <a:endParaRPr lang="en-US" altLang="ko-KR" sz="1000" b="1" dirty="0">
              <a:ea typeface="맑은 고딕"/>
            </a:endParaRPr>
          </a:p>
          <a:p>
            <a:pPr algn="ctr"/>
            <a:endParaRPr lang="en-US" altLang="ko-KR" sz="1000" b="1" dirty="0">
              <a:ea typeface="맑은 고딕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ea typeface="맑은 고딕"/>
              </a:rPr>
              <a:t>동적 구현</a:t>
            </a:r>
            <a:endParaRPr lang="en-US" altLang="ko-KR" sz="1200" b="1" dirty="0">
              <a:ea typeface="맑은 고딕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b="1" dirty="0">
                <a:ea typeface="맑은 고딕"/>
              </a:rPr>
              <a:t>API </a:t>
            </a:r>
            <a:r>
              <a:rPr lang="ko-KR" altLang="en-US" sz="1200" b="1" dirty="0">
                <a:ea typeface="맑은 고딕"/>
              </a:rPr>
              <a:t>활용</a:t>
            </a:r>
            <a:endParaRPr lang="en-US" altLang="ko-KR" sz="1200" b="1" dirty="0">
              <a:ea typeface="맑은 고딕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b="1" dirty="0">
                <a:ea typeface="맑은 고딕"/>
              </a:rPr>
              <a:t>GPS</a:t>
            </a:r>
          </a:p>
        </p:txBody>
      </p:sp>
      <p:cxnSp>
        <p:nvCxnSpPr>
          <p:cNvPr id="2" name="직선 연결선 1"/>
          <p:cNvCxnSpPr/>
          <p:nvPr/>
        </p:nvCxnSpPr>
        <p:spPr>
          <a:xfrm>
            <a:off x="1379129" y="2717461"/>
            <a:ext cx="122318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4117201" y="2717922"/>
            <a:ext cx="122318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6846478" y="2717461"/>
            <a:ext cx="122318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9597002" y="2717461"/>
            <a:ext cx="122318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4117201" y="4182928"/>
            <a:ext cx="122318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4117201" y="5706929"/>
            <a:ext cx="122318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6924522" y="4182467"/>
            <a:ext cx="122318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9597001" y="4182467"/>
            <a:ext cx="122318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9597001" y="5706929"/>
            <a:ext cx="122318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AB0567C-34AD-3ACE-6578-40F9D9CC3B79}"/>
              </a:ext>
            </a:extLst>
          </p:cNvPr>
          <p:cNvSpPr txBox="1"/>
          <p:nvPr/>
        </p:nvSpPr>
        <p:spPr>
          <a:xfrm>
            <a:off x="747130" y="623962"/>
            <a:ext cx="1069773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05. 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개발 일정</a:t>
            </a:r>
            <a:endParaRPr lang="ko-KR" sz="44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6658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FF2EE-1B65-5724-9235-A606288D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632F91-5EAD-F1C9-4AAE-C9310A6A0D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2424441" y="1757809"/>
            <a:ext cx="2105368" cy="4172857"/>
            <a:chOff x="1076325" y="1093816"/>
            <a:chExt cx="2807984" cy="5723090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7794" y="1685812"/>
              <a:ext cx="2766515" cy="513109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7F13EBE-30BB-17C4-E79A-8062FB41EBAA}"/>
                </a:ext>
              </a:extLst>
            </p:cNvPr>
            <p:cNvSpPr txBox="1"/>
            <p:nvPr/>
          </p:nvSpPr>
          <p:spPr>
            <a:xfrm>
              <a:off x="1076325" y="1093816"/>
              <a:ext cx="2807984" cy="41402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600" b="1" dirty="0" err="1">
                  <a:solidFill>
                    <a:schemeClr val="tx1"/>
                  </a:solidFill>
                  <a:ea typeface="맑은 고딕"/>
                </a:rPr>
                <a:t>블랙야크</a:t>
              </a:r>
              <a:r>
                <a:rPr lang="ko-KR" altLang="en-US" sz="1600" b="1" dirty="0">
                  <a:solidFill>
                    <a:schemeClr val="tx1"/>
                  </a:solidFill>
                  <a:ea typeface="맑은 고딕"/>
                </a:rPr>
                <a:t> 알파인 클럽 </a:t>
              </a:r>
              <a:r>
                <a:rPr lang="en-US" altLang="ko-KR" sz="1600" b="1" dirty="0">
                  <a:solidFill>
                    <a:schemeClr val="tx1"/>
                  </a:solidFill>
                  <a:ea typeface="맑은 고딕"/>
                </a:rPr>
                <a:t>BAC</a:t>
              </a: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5620891" y="1757809"/>
            <a:ext cx="4899696" cy="4643744"/>
            <a:chOff x="5333933" y="1109735"/>
            <a:chExt cx="5864963" cy="558868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3933" y="1685812"/>
              <a:ext cx="2895666" cy="5012603"/>
            </a:xfrm>
            <a:prstGeom prst="rect">
              <a:avLst/>
            </a:prstGeom>
          </p:spPr>
        </p:pic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47994" y="1685812"/>
              <a:ext cx="2850902" cy="3249733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7F13EBE-30BB-17C4-E79A-8062FB41EBAA}"/>
                </a:ext>
              </a:extLst>
            </p:cNvPr>
            <p:cNvSpPr txBox="1"/>
            <p:nvPr/>
          </p:nvSpPr>
          <p:spPr>
            <a:xfrm>
              <a:off x="7047548" y="1109735"/>
              <a:ext cx="2807984" cy="41402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600" b="1" dirty="0" err="1">
                  <a:solidFill>
                    <a:schemeClr val="tx1"/>
                  </a:solidFill>
                  <a:ea typeface="맑은 고딕"/>
                </a:rPr>
                <a:t>아모제</a:t>
              </a:r>
              <a:r>
                <a:rPr lang="ko-KR" altLang="en-US" sz="1600" b="1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ko-KR" altLang="en-US" sz="1600" b="1" dirty="0" err="1">
                  <a:solidFill>
                    <a:schemeClr val="tx1"/>
                  </a:solidFill>
                  <a:ea typeface="맑은 고딕"/>
                </a:rPr>
                <a:t>배달타자</a:t>
              </a:r>
              <a:endParaRPr lang="en-US" altLang="ko-KR" sz="1600" b="1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EFAA35-A81C-80D0-69FB-F57F3C1EF1BF}"/>
              </a:ext>
            </a:extLst>
          </p:cNvPr>
          <p:cNvSpPr txBox="1"/>
          <p:nvPr/>
        </p:nvSpPr>
        <p:spPr>
          <a:xfrm>
            <a:off x="747130" y="623962"/>
            <a:ext cx="1069773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06. UI/UX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 디자인 </a:t>
            </a:r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– 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벤치 마킹</a:t>
            </a:r>
            <a:endParaRPr lang="ko-KR" sz="44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0510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BA68C0-446A-57DB-2582-9C3E8DE75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106DFB4-EC2E-3D2B-DBFB-78615D28C6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스크린샷, 폰트, 텍스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EFDB6F-5079-B20D-4A8D-BCBA76D78B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9" y="1605803"/>
            <a:ext cx="10536820" cy="4593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DEE029-B202-CE46-1E85-59238ABEA894}"/>
              </a:ext>
            </a:extLst>
          </p:cNvPr>
          <p:cNvSpPr txBox="1"/>
          <p:nvPr/>
        </p:nvSpPr>
        <p:spPr>
          <a:xfrm>
            <a:off x="747130" y="623962"/>
            <a:ext cx="1069773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06. UI/UX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 디자인 </a:t>
            </a:r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– </a:t>
            </a:r>
            <a:r>
              <a:rPr lang="ko-KR" altLang="en-US" sz="4400" b="1" dirty="0" err="1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플로우차트</a:t>
            </a:r>
            <a:endParaRPr lang="ko-KR" sz="44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8347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BA68C0-446A-57DB-2582-9C3E8DE75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106DFB4-EC2E-3D2B-DBFB-78615D28C6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3EC76F-C851-1DE9-A62E-FE09142BC10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813" y="1607781"/>
            <a:ext cx="7850415" cy="47675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CB1EFE2-638F-2146-FD3D-102D359EE445}"/>
              </a:ext>
            </a:extLst>
          </p:cNvPr>
          <p:cNvSpPr txBox="1"/>
          <p:nvPr/>
        </p:nvSpPr>
        <p:spPr>
          <a:xfrm>
            <a:off x="1346730" y="2707691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파일 담당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E3F05C-6FA1-A4C5-1626-A030C145757E}"/>
              </a:ext>
            </a:extLst>
          </p:cNvPr>
          <p:cNvSpPr txBox="1"/>
          <p:nvPr/>
        </p:nvSpPr>
        <p:spPr>
          <a:xfrm>
            <a:off x="1461727" y="437616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유저정보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9B086B-81EB-94C4-6951-51848B08FB2F}"/>
              </a:ext>
            </a:extLst>
          </p:cNvPr>
          <p:cNvSpPr txBox="1"/>
          <p:nvPr/>
        </p:nvSpPr>
        <p:spPr>
          <a:xfrm>
            <a:off x="1461727" y="5826326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빵집 메뉴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44029D-5A5F-0575-2B4B-1C05644A3D9D}"/>
              </a:ext>
            </a:extLst>
          </p:cNvPr>
          <p:cNvSpPr txBox="1"/>
          <p:nvPr/>
        </p:nvSpPr>
        <p:spPr>
          <a:xfrm>
            <a:off x="4633386" y="2707691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포인트 적립 로그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8B31CD-E03C-2565-FD4D-15A5DF52E421}"/>
              </a:ext>
            </a:extLst>
          </p:cNvPr>
          <p:cNvSpPr txBox="1"/>
          <p:nvPr/>
        </p:nvSpPr>
        <p:spPr>
          <a:xfrm>
            <a:off x="5020512" y="3935801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배너 정보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A00831-12F8-C987-4CCC-F82EBBB46437}"/>
              </a:ext>
            </a:extLst>
          </p:cNvPr>
          <p:cNvSpPr txBox="1"/>
          <p:nvPr/>
        </p:nvSpPr>
        <p:spPr>
          <a:xfrm>
            <a:off x="5210383" y="611250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빵집 즐겨찾기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1A3AFD-A822-5E9B-20B5-DA06B8E12D77}"/>
              </a:ext>
            </a:extLst>
          </p:cNvPr>
          <p:cNvSpPr txBox="1"/>
          <p:nvPr/>
        </p:nvSpPr>
        <p:spPr>
          <a:xfrm>
            <a:off x="7613514" y="601596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게시판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2C9BD1-6FD6-C02C-7FC5-BB9EEA9D60B4}"/>
              </a:ext>
            </a:extLst>
          </p:cNvPr>
          <p:cNvSpPr txBox="1"/>
          <p:nvPr/>
        </p:nvSpPr>
        <p:spPr>
          <a:xfrm>
            <a:off x="7510212" y="4916053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빵집 정보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68A402-4E5C-882B-69C3-B94EDEE793C2}"/>
              </a:ext>
            </a:extLst>
          </p:cNvPr>
          <p:cNvSpPr txBox="1"/>
          <p:nvPr/>
        </p:nvSpPr>
        <p:spPr>
          <a:xfrm>
            <a:off x="7457222" y="2707691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리뷰 정보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ADAFBE-D6A0-8A3A-034B-5E79A0401813}"/>
              </a:ext>
            </a:extLst>
          </p:cNvPr>
          <p:cNvSpPr txBox="1"/>
          <p:nvPr/>
        </p:nvSpPr>
        <p:spPr>
          <a:xfrm>
            <a:off x="9529025" y="225479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스탬프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868D88-C353-A4B6-33D6-35132032C3BF}"/>
              </a:ext>
            </a:extLst>
          </p:cNvPr>
          <p:cNvSpPr txBox="1"/>
          <p:nvPr/>
        </p:nvSpPr>
        <p:spPr>
          <a:xfrm>
            <a:off x="9597880" y="343714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인증 로그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1B5146-B6DF-8CEF-14F5-707526E954CD}"/>
              </a:ext>
            </a:extLst>
          </p:cNvPr>
          <p:cNvSpPr txBox="1"/>
          <p:nvPr/>
        </p:nvSpPr>
        <p:spPr>
          <a:xfrm>
            <a:off x="9597880" y="4745493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관리자 계정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139AA2-549B-9F3F-78D1-9B83A82E668E}"/>
              </a:ext>
            </a:extLst>
          </p:cNvPr>
          <p:cNvSpPr txBox="1"/>
          <p:nvPr/>
        </p:nvSpPr>
        <p:spPr>
          <a:xfrm>
            <a:off x="9529025" y="5927843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포인트 적립 정보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C65102-B75B-CD52-3680-743E8FE7BF3B}"/>
              </a:ext>
            </a:extLst>
          </p:cNvPr>
          <p:cNvSpPr txBox="1"/>
          <p:nvPr/>
        </p:nvSpPr>
        <p:spPr>
          <a:xfrm>
            <a:off x="747130" y="623962"/>
            <a:ext cx="1069773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06. UI/UX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 디자인 </a:t>
            </a:r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– ERD</a:t>
            </a:r>
            <a:endParaRPr lang="ko-KR" sz="44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826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04955-5AF1-2102-E218-65286444A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FE585E0-BC96-D195-B4B0-B16B274FD7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7A40DD-5018-1849-6E10-D9018C6544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223" y="2271237"/>
            <a:ext cx="1166179" cy="10860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98B266-9D62-4CAF-7EA1-4E8817CDB284}"/>
              </a:ext>
            </a:extLst>
          </p:cNvPr>
          <p:cNvSpPr txBox="1"/>
          <p:nvPr/>
        </p:nvSpPr>
        <p:spPr>
          <a:xfrm>
            <a:off x="5540888" y="1750457"/>
            <a:ext cx="1828800" cy="4462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2300" b="1" dirty="0">
                <a:ea typeface="맑은 고딕"/>
              </a:rPr>
              <a:t>Color</a:t>
            </a:r>
            <a:endParaRPr lang="ko-KR" altLang="en-US" sz="2300" b="1" dirty="0"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26E6C7-6C80-564C-DB49-69777803B09C}"/>
              </a:ext>
            </a:extLst>
          </p:cNvPr>
          <p:cNvSpPr txBox="1"/>
          <p:nvPr/>
        </p:nvSpPr>
        <p:spPr>
          <a:xfrm>
            <a:off x="1334223" y="5079151"/>
            <a:ext cx="2116685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200" b="1" dirty="0">
                <a:ea typeface="맑은 고딕"/>
              </a:rPr>
              <a:t>Main Font</a:t>
            </a:r>
            <a:endParaRPr lang="en-US" altLang="ko-KR" sz="2200" b="1" dirty="0"/>
          </a:p>
          <a:p>
            <a:pPr>
              <a:lnSpc>
                <a:spcPct val="200000"/>
              </a:lnSpc>
            </a:pPr>
            <a:r>
              <a:rPr lang="en-US" altLang="ko-KR" b="1" dirty="0"/>
              <a:t>Noto Sans KR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991C52-82A2-F8DA-F170-3773A0F1F39D}"/>
              </a:ext>
            </a:extLst>
          </p:cNvPr>
          <p:cNvSpPr txBox="1"/>
          <p:nvPr/>
        </p:nvSpPr>
        <p:spPr>
          <a:xfrm>
            <a:off x="779438" y="1674483"/>
            <a:ext cx="1828800" cy="4462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2300" b="1" dirty="0">
                <a:ea typeface="맑은 고딕"/>
              </a:rPr>
              <a:t>Logo</a:t>
            </a:r>
            <a:endParaRPr lang="ko-KR" altLang="en-US" sz="2300" b="1" dirty="0">
              <a:ea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2BD490-B71A-7513-9399-639B54ABB1BF}"/>
              </a:ext>
            </a:extLst>
          </p:cNvPr>
          <p:cNvSpPr txBox="1"/>
          <p:nvPr/>
        </p:nvSpPr>
        <p:spPr>
          <a:xfrm>
            <a:off x="1303421" y="3501851"/>
            <a:ext cx="4021508" cy="1432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/>
              </a:rPr>
              <a:t>따뜻한 지역 빵집 탐방의 즐거움을 표현</a:t>
            </a:r>
            <a:endParaRPr lang="en-US" altLang="ko-KR" sz="1500" b="1" dirty="0">
              <a:solidFill>
                <a:schemeClr val="tx1">
                  <a:lumMod val="50000"/>
                  <a:lumOff val="50000"/>
                </a:schemeClr>
              </a:solidFill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/>
              </a:rPr>
              <a:t>식빵 캐릭터 </a:t>
            </a:r>
            <a:r>
              <a:rPr lang="en-US" altLang="ko-KR" sz="1500" b="1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/>
              </a:rPr>
              <a:t>: </a:t>
            </a:r>
            <a:r>
              <a:rPr lang="ko-KR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/>
              </a:rPr>
              <a:t>지역의 개성 있는 로컬 빵 상징</a:t>
            </a:r>
            <a:endParaRPr lang="en-US" altLang="ko-KR" sz="1500" b="1" dirty="0">
              <a:solidFill>
                <a:schemeClr val="tx1">
                  <a:lumMod val="50000"/>
                  <a:lumOff val="50000"/>
                </a:schemeClr>
              </a:solidFill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/>
              </a:rPr>
              <a:t>카메라 아이콘 </a:t>
            </a:r>
            <a:r>
              <a:rPr lang="en-US" altLang="ko-KR" sz="1500" b="1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/>
              </a:rPr>
              <a:t>: </a:t>
            </a:r>
            <a:r>
              <a:rPr lang="ko-KR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/>
              </a:rPr>
              <a:t>기록과 공유</a:t>
            </a:r>
            <a:endParaRPr lang="en-US" altLang="ko-KR" sz="1500" b="1" dirty="0">
              <a:solidFill>
                <a:schemeClr val="tx1">
                  <a:lumMod val="50000"/>
                  <a:lumOff val="50000"/>
                </a:schemeClr>
              </a:solidFill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/>
              </a:rPr>
              <a:t>웃는 얼굴 </a:t>
            </a:r>
            <a:r>
              <a:rPr lang="en-US" altLang="ko-KR" sz="1500" b="1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/>
              </a:rPr>
              <a:t>: </a:t>
            </a:r>
            <a:r>
              <a:rPr lang="ko-KR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/>
              </a:rPr>
              <a:t>친근함과 행복한 경험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723" y="2383041"/>
            <a:ext cx="3333750" cy="5048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184" y="4113627"/>
            <a:ext cx="3343275" cy="5048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1245" y="4867757"/>
            <a:ext cx="3371850" cy="533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E2BD490-B71A-7513-9399-639B54ABB1BF}"/>
              </a:ext>
            </a:extLst>
          </p:cNvPr>
          <p:cNvSpPr txBox="1"/>
          <p:nvPr/>
        </p:nvSpPr>
        <p:spPr>
          <a:xfrm>
            <a:off x="6167191" y="2925083"/>
            <a:ext cx="4129747" cy="101566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/>
              </a:rPr>
              <a:t>따뜻함과 활력을 상징하는 오렌지 계열 컬러</a:t>
            </a:r>
            <a:endParaRPr lang="en-US" altLang="ko-KR" sz="1500" b="1" dirty="0">
              <a:solidFill>
                <a:schemeClr val="tx1">
                  <a:lumMod val="50000"/>
                  <a:lumOff val="50000"/>
                </a:schemeClr>
              </a:solidFill>
              <a:ea typeface="맑은 고딕"/>
            </a:endParaRPr>
          </a:p>
          <a:p>
            <a:pPr marL="228600" indent="-228600">
              <a:buAutoNum type="arabicParenR"/>
            </a:pPr>
            <a:r>
              <a:rPr lang="ko-KR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/>
              </a:rPr>
              <a:t>빵의 고소함과 따뜻한 굽는 색감을 연상</a:t>
            </a:r>
            <a:endParaRPr lang="en-US" altLang="ko-KR" sz="1500" b="1" dirty="0">
              <a:solidFill>
                <a:schemeClr val="tx1">
                  <a:lumMod val="50000"/>
                  <a:lumOff val="50000"/>
                </a:schemeClr>
              </a:solidFill>
              <a:ea typeface="맑은 고딕"/>
            </a:endParaRPr>
          </a:p>
          <a:p>
            <a:pPr marL="228600" indent="-228600">
              <a:buAutoNum type="arabicParenR"/>
            </a:pPr>
            <a:r>
              <a:rPr lang="ko-KR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/>
              </a:rPr>
              <a:t>밝고 긍정적인 에너지를 표현</a:t>
            </a:r>
            <a:endParaRPr lang="en-US" altLang="ko-KR" sz="1500" b="1" dirty="0">
              <a:solidFill>
                <a:schemeClr val="tx1">
                  <a:lumMod val="50000"/>
                  <a:lumOff val="50000"/>
                </a:schemeClr>
              </a:solidFill>
              <a:ea typeface="맑은 고딕"/>
            </a:endParaRPr>
          </a:p>
          <a:p>
            <a:pPr marL="228600" indent="-228600">
              <a:buAutoNum type="arabicParenR"/>
            </a:pPr>
            <a:r>
              <a:rPr lang="ko-KR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/>
              </a:rPr>
              <a:t>시선을 끌면서 부드러운 인상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B6A1FE-225D-6779-19E7-4114AC5A1ED6}"/>
              </a:ext>
            </a:extLst>
          </p:cNvPr>
          <p:cNvSpPr txBox="1"/>
          <p:nvPr/>
        </p:nvSpPr>
        <p:spPr>
          <a:xfrm>
            <a:off x="747130" y="623962"/>
            <a:ext cx="1069773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06. UI/UX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 디자인 </a:t>
            </a:r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– 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스타일 가이드</a:t>
            </a:r>
            <a:endParaRPr lang="ko-KR" sz="44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1004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DDEE1D-DCDF-55B8-300F-F54EA5A50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32BDE1-C950-4C4D-64BB-9A9DC19FDF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59A99A-EF43-1BBB-9A0F-24B9E4C7A67F}"/>
              </a:ext>
            </a:extLst>
          </p:cNvPr>
          <p:cNvSpPr txBox="1"/>
          <p:nvPr/>
        </p:nvSpPr>
        <p:spPr>
          <a:xfrm>
            <a:off x="747130" y="2767279"/>
            <a:ext cx="1069773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80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와이어프레임</a:t>
            </a:r>
            <a:endParaRPr lang="ko-KR" sz="80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6598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FF2EE-1B65-5724-9235-A606288D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97" y="1001729"/>
            <a:ext cx="2510083" cy="524236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250" y="1014533"/>
            <a:ext cx="2484732" cy="523015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0381" y="1014533"/>
            <a:ext cx="2513522" cy="523015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503" y="1022524"/>
            <a:ext cx="1566761" cy="522253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98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FF2EE-1B65-5724-9235-A606288D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49" y="1023666"/>
            <a:ext cx="10477499" cy="516472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414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FF2EE-1B65-5724-9235-A606288D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78" y="924175"/>
            <a:ext cx="10800041" cy="529395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36605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FF2EE-1B65-5724-9235-A606288D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50" y="1019300"/>
            <a:ext cx="8039100" cy="52877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57464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9EF71-9111-8875-B422-8AD12E4F9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3F0F13B-8BB4-435C-B03C-89E10F3E37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83BFAE-249B-B126-BDE4-E3576E432E05}"/>
              </a:ext>
            </a:extLst>
          </p:cNvPr>
          <p:cNvSpPr txBox="1"/>
          <p:nvPr/>
        </p:nvSpPr>
        <p:spPr>
          <a:xfrm>
            <a:off x="747130" y="2767279"/>
            <a:ext cx="1069773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80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프로토타입</a:t>
            </a:r>
            <a:endParaRPr lang="ko-KR" sz="80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773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D5F1B-4BA0-3E7B-3886-C1F6340CE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06BE050-97AF-7218-8814-C5C85D0B7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64" y="919443"/>
            <a:ext cx="2429015" cy="52957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313446F-1D9B-F932-47F3-9A36EB74A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670" y="919444"/>
            <a:ext cx="2429015" cy="530922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1D2EF39-4F19-B90E-C562-F5271B8298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3976" y="919443"/>
            <a:ext cx="2425674" cy="53092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49AF23E-6F6B-179B-B0E4-A03156A59C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5621" y="919442"/>
            <a:ext cx="2429015" cy="52957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49783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44B733-962D-BD48-54FD-9EB6239A4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38FD89E0-40FA-0E95-22F7-604A2305F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23" y="919444"/>
            <a:ext cx="2429015" cy="530922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9B853B4-F94B-C576-437A-7E75A6CBE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670" y="932918"/>
            <a:ext cx="2425674" cy="53092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65951DE-280C-39B6-6D3D-91CF559623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0658" y="932918"/>
            <a:ext cx="2425674" cy="530922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3D9324A-6204-5732-E9A5-0228F81A0F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8964" y="919443"/>
            <a:ext cx="2425674" cy="53092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06448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FB544-ECD7-95F1-24A3-B409D93B2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E9C68C0-6F74-88A8-FFD1-EDA5E7966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64" y="932918"/>
            <a:ext cx="2425674" cy="530922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3E8F4F9-10FE-CC5C-28AE-B6E0DDAF7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668" y="932918"/>
            <a:ext cx="2437021" cy="53092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4E4FCA8-C193-6E9E-7210-C3CB8E25ED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5319" y="932917"/>
            <a:ext cx="2426895" cy="53092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AC8760E-2B35-22C8-350D-7CF08A0335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4844" y="932916"/>
            <a:ext cx="2439877" cy="530922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7154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581536-3101-A7C3-E2CA-87FF6CDBC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349957B8-10F1-A643-7359-4A21461E4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17" y="915418"/>
            <a:ext cx="2437021" cy="53267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FB37514-6E7F-7FE9-B0F8-023211C5D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7342" y="915418"/>
            <a:ext cx="2437021" cy="532165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C04AE28-924F-6D4E-1AED-747C2C67F7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639" y="927854"/>
            <a:ext cx="2418922" cy="53092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61FC329-0760-A973-9C70-6141BC4FFC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884" y="927854"/>
            <a:ext cx="2416099" cy="53092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8755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912D68-365B-2FB8-4DC2-4F9E9B310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2131C5A-C1CD-62DA-1FBA-A6AC7391D7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049" y="1393403"/>
            <a:ext cx="3475553" cy="49911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554047-F170-A774-70D4-7C3E994CCF20}"/>
              </a:ext>
            </a:extLst>
          </p:cNvPr>
          <p:cNvSpPr txBox="1"/>
          <p:nvPr/>
        </p:nvSpPr>
        <p:spPr>
          <a:xfrm>
            <a:off x="747130" y="623962"/>
            <a:ext cx="1069773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06. UI/UX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 디자인 </a:t>
            </a:r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– </a:t>
            </a:r>
            <a:r>
              <a:rPr lang="ko-KR" altLang="en-US" sz="4400" b="1" dirty="0" err="1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목업</a:t>
            </a:r>
            <a:endParaRPr lang="ko-KR" sz="44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13353C-B21B-9202-31E6-6DE29755E7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699" y="1393403"/>
            <a:ext cx="4737102" cy="487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510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FF2EE-1B65-5724-9235-A606288D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632F91-5EAD-F1C9-4AAE-C9310A6A0D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347" y="1652513"/>
            <a:ext cx="3571875" cy="45815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539D3A-8F71-D3CA-5B67-BAFC55C2FC3C}"/>
              </a:ext>
            </a:extLst>
          </p:cNvPr>
          <p:cNvSpPr txBox="1"/>
          <p:nvPr/>
        </p:nvSpPr>
        <p:spPr>
          <a:xfrm>
            <a:off x="1688535" y="1857293"/>
            <a:ext cx="6726237" cy="38549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300" b="1" dirty="0">
                <a:latin typeface="+mj-lt"/>
                <a:ea typeface="맑은 고딕"/>
              </a:rPr>
              <a:t>GPS </a:t>
            </a:r>
            <a:r>
              <a:rPr lang="ko-KR" altLang="en-US" sz="2300" b="1" dirty="0">
                <a:latin typeface="+mj-lt"/>
                <a:ea typeface="맑은 고딕"/>
              </a:rPr>
              <a:t>위치 기반 인증</a:t>
            </a:r>
            <a:endParaRPr lang="en-US" altLang="ko-KR" sz="2300" b="1" dirty="0">
              <a:latin typeface="+mj-lt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+mj-lt"/>
                <a:ea typeface="맑은 고딕"/>
              </a:rPr>
              <a:t> </a:t>
            </a:r>
            <a:r>
              <a:rPr lang="en-US" altLang="ko-KR" sz="2000" dirty="0">
                <a:latin typeface="+mj-lt"/>
                <a:ea typeface="맑은 고딕"/>
              </a:rPr>
              <a:t>- </a:t>
            </a:r>
            <a:r>
              <a:rPr lang="ko-KR" altLang="en-US" sz="2000" dirty="0">
                <a:latin typeface="+mj-lt"/>
                <a:ea typeface="맑은 고딕"/>
              </a:rPr>
              <a:t>부정 사용 방지</a:t>
            </a:r>
            <a:endParaRPr lang="en-US" altLang="ko-KR" sz="2000" dirty="0">
              <a:latin typeface="+mj-lt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  <a:ea typeface="맑은 고딕"/>
              </a:rPr>
              <a:t> - </a:t>
            </a:r>
            <a:r>
              <a:rPr lang="ko-KR" altLang="en-US" sz="2000" dirty="0">
                <a:latin typeface="+mj-lt"/>
                <a:ea typeface="맑은 고딕"/>
              </a:rPr>
              <a:t>위치 </a:t>
            </a:r>
            <a:r>
              <a:rPr lang="en-US" altLang="ko-KR" sz="2000" dirty="0">
                <a:latin typeface="+mj-lt"/>
                <a:ea typeface="맑은 고딕"/>
              </a:rPr>
              <a:t>+ </a:t>
            </a:r>
            <a:r>
              <a:rPr lang="ko-KR" altLang="en-US" sz="2000" dirty="0">
                <a:latin typeface="+mj-lt"/>
                <a:ea typeface="맑은 고딕"/>
              </a:rPr>
              <a:t>연락처 이중 인증</a:t>
            </a:r>
            <a:endParaRPr lang="en-US" altLang="ko-KR" sz="2000" dirty="0">
              <a:latin typeface="+mj-lt"/>
              <a:ea typeface="맑은 고딕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latin typeface="+mj-lt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  <a:ea typeface="맑은 고딕"/>
              </a:rPr>
              <a:t>1. </a:t>
            </a:r>
            <a:r>
              <a:rPr lang="ko-KR" altLang="en-US" sz="2000" dirty="0">
                <a:latin typeface="+mj-lt"/>
                <a:ea typeface="맑은 고딕"/>
              </a:rPr>
              <a:t>사용자가 인증 매장 방문 </a:t>
            </a:r>
            <a:r>
              <a:rPr lang="en-US" altLang="ko-KR" sz="2000" dirty="0">
                <a:latin typeface="+mj-lt"/>
                <a:ea typeface="맑은 고딕"/>
              </a:rPr>
              <a:t>-&gt; GPS </a:t>
            </a:r>
            <a:r>
              <a:rPr lang="ko-KR" altLang="en-US" sz="2000" dirty="0">
                <a:latin typeface="+mj-lt"/>
                <a:ea typeface="맑은 고딕"/>
              </a:rPr>
              <a:t>인증</a:t>
            </a:r>
            <a:endParaRPr lang="en-US" altLang="ko-KR" sz="2000" dirty="0">
              <a:latin typeface="+mj-lt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  <a:ea typeface="맑은 고딕"/>
              </a:rPr>
              <a:t>2. </a:t>
            </a:r>
            <a:r>
              <a:rPr lang="ko-KR" altLang="en-US" sz="2000" dirty="0">
                <a:latin typeface="+mj-lt"/>
                <a:ea typeface="맑은 고딕"/>
              </a:rPr>
              <a:t>바코드 스캔 </a:t>
            </a:r>
            <a:r>
              <a:rPr lang="en-US" altLang="ko-KR" sz="2000" dirty="0">
                <a:latin typeface="+mj-lt"/>
                <a:ea typeface="맑은 고딕"/>
              </a:rPr>
              <a:t>-&gt; </a:t>
            </a:r>
            <a:r>
              <a:rPr lang="ko-KR" altLang="en-US" sz="2000" dirty="0">
                <a:latin typeface="+mj-lt"/>
                <a:ea typeface="맑은 고딕"/>
              </a:rPr>
              <a:t>포인트 적립</a:t>
            </a:r>
            <a:endParaRPr lang="en-US" altLang="ko-KR" sz="2000" dirty="0">
              <a:latin typeface="+mj-lt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  <a:ea typeface="맑은 고딕"/>
              </a:rPr>
              <a:t>3. </a:t>
            </a:r>
            <a:r>
              <a:rPr lang="ko-KR" altLang="en-US" sz="2000" dirty="0">
                <a:latin typeface="+mj-lt"/>
                <a:ea typeface="맑은 고딕"/>
              </a:rPr>
              <a:t>포인트 사용시 바코드 스캔</a:t>
            </a:r>
            <a:endParaRPr lang="en-US" altLang="ko-KR" sz="2000" dirty="0">
              <a:latin typeface="+mj-lt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  <a:ea typeface="맑은 고딕"/>
              </a:rPr>
              <a:t>   -&gt; </a:t>
            </a:r>
            <a:r>
              <a:rPr lang="ko-KR" altLang="en-US" sz="2000" dirty="0">
                <a:latin typeface="+mj-lt"/>
                <a:ea typeface="맑은 고딕"/>
              </a:rPr>
              <a:t>포인트 차감 및 혜택 제공</a:t>
            </a:r>
            <a:endParaRPr lang="en-US" altLang="ko-KR" sz="2000" dirty="0">
              <a:latin typeface="+mj-lt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B27DD-EC9F-10AF-CE8A-2EBB024A1DEF}"/>
              </a:ext>
            </a:extLst>
          </p:cNvPr>
          <p:cNvSpPr txBox="1"/>
          <p:nvPr/>
        </p:nvSpPr>
        <p:spPr>
          <a:xfrm>
            <a:off x="747130" y="623962"/>
            <a:ext cx="1069773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07. 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프로젝트 구현 </a:t>
            </a:r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– GPS 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인증</a:t>
            </a:r>
            <a:endParaRPr lang="ko-KR" sz="44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845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FF2EE-1B65-5724-9235-A606288D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632F91-5EAD-F1C9-4AAE-C9310A6A0D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462" y="1587139"/>
            <a:ext cx="2869924" cy="46468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539D3A-8F71-D3CA-5B67-BAFC55C2FC3C}"/>
              </a:ext>
            </a:extLst>
          </p:cNvPr>
          <p:cNvSpPr txBox="1"/>
          <p:nvPr/>
        </p:nvSpPr>
        <p:spPr>
          <a:xfrm>
            <a:off x="1357540" y="1683055"/>
            <a:ext cx="6726237" cy="4455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300" b="1" dirty="0">
                <a:latin typeface="+mj-lt"/>
                <a:ea typeface="맑은 고딕"/>
              </a:rPr>
              <a:t>포인트 적립 </a:t>
            </a:r>
            <a:endParaRPr lang="en-US" altLang="ko-KR" sz="2300" b="1" dirty="0">
              <a:latin typeface="+mj-lt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+mj-lt"/>
                <a:ea typeface="맑은 고딕"/>
              </a:rPr>
              <a:t> </a:t>
            </a:r>
            <a:r>
              <a:rPr lang="en-US" altLang="ko-KR" sz="2000" dirty="0">
                <a:latin typeface="+mj-lt"/>
                <a:ea typeface="맑은 고딕"/>
              </a:rPr>
              <a:t>- </a:t>
            </a:r>
            <a:r>
              <a:rPr lang="ko-KR" altLang="en-US" sz="2000" dirty="0">
                <a:latin typeface="+mj-lt"/>
                <a:ea typeface="맑은 고딕"/>
              </a:rPr>
              <a:t>바코드로 </a:t>
            </a:r>
            <a:r>
              <a:rPr lang="en-US" altLang="ko-KR" sz="2000" dirty="0">
                <a:latin typeface="+mj-lt"/>
                <a:ea typeface="맑은 고딕"/>
              </a:rPr>
              <a:t>2</a:t>
            </a:r>
            <a:r>
              <a:rPr lang="ko-KR" altLang="en-US" sz="2000" dirty="0">
                <a:latin typeface="+mj-lt"/>
                <a:ea typeface="맑은 고딕"/>
              </a:rPr>
              <a:t>차 인증과 동시에 포인트 적립</a:t>
            </a:r>
            <a:endParaRPr lang="en-US" altLang="ko-KR" sz="2000" dirty="0">
              <a:latin typeface="+mj-lt"/>
              <a:ea typeface="맑은 고딕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latin typeface="+mj-lt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2300" b="1" dirty="0">
                <a:ea typeface="맑은 고딕"/>
              </a:rPr>
              <a:t>포인트 사용 </a:t>
            </a:r>
            <a:endParaRPr lang="en-US" altLang="ko-KR" sz="2300" b="1" dirty="0"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ea typeface="맑은 고딕"/>
              </a:rPr>
              <a:t> </a:t>
            </a:r>
            <a:r>
              <a:rPr lang="en-US" altLang="ko-KR" sz="2000" dirty="0">
                <a:ea typeface="맑은 고딕"/>
              </a:rPr>
              <a:t>- </a:t>
            </a:r>
            <a:r>
              <a:rPr lang="ko-KR" altLang="en-US" sz="2000" dirty="0">
                <a:ea typeface="맑은 고딕"/>
              </a:rPr>
              <a:t>바코드 스캔 후 포인트 차감</a:t>
            </a:r>
            <a:endParaRPr lang="en-US" altLang="ko-KR" sz="2000" dirty="0">
              <a:ea typeface="맑은 고딕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latin typeface="+mj-lt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2300" b="1" dirty="0">
                <a:ea typeface="맑은 고딕"/>
              </a:rPr>
              <a:t>스탬프 적립 </a:t>
            </a:r>
            <a:r>
              <a:rPr lang="en-US" altLang="ko-KR" sz="1700" dirty="0">
                <a:ea typeface="맑은 고딕"/>
              </a:rPr>
              <a:t>(</a:t>
            </a:r>
            <a:r>
              <a:rPr lang="ko-KR" altLang="en-US" sz="1700" dirty="0">
                <a:ea typeface="맑은 고딕"/>
              </a:rPr>
              <a:t>재방문 유도</a:t>
            </a:r>
            <a:r>
              <a:rPr lang="en-US" altLang="ko-KR" sz="1700" dirty="0">
                <a:ea typeface="맑은 고딕"/>
              </a:rPr>
              <a:t>)</a:t>
            </a:r>
            <a:r>
              <a:rPr lang="ko-KR" altLang="en-US" sz="1700" dirty="0">
                <a:ea typeface="맑은 고딕"/>
              </a:rPr>
              <a:t> </a:t>
            </a:r>
            <a:endParaRPr lang="en-US" altLang="ko-KR" sz="1700" dirty="0"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ea typeface="맑은 고딕"/>
              </a:rPr>
              <a:t> </a:t>
            </a:r>
            <a:r>
              <a:rPr lang="en-US" altLang="ko-KR" sz="2000" dirty="0">
                <a:ea typeface="맑은 고딕"/>
              </a:rPr>
              <a:t>- </a:t>
            </a:r>
            <a:r>
              <a:rPr lang="ko-KR" altLang="en-US" sz="2000" dirty="0">
                <a:ea typeface="맑은 고딕"/>
              </a:rPr>
              <a:t>인증 </a:t>
            </a:r>
            <a:r>
              <a:rPr lang="en-US" altLang="ko-KR" sz="2000" dirty="0">
                <a:ea typeface="맑은 고딕"/>
              </a:rPr>
              <a:t>1</a:t>
            </a:r>
            <a:r>
              <a:rPr lang="ko-KR" altLang="en-US" sz="2000" dirty="0">
                <a:ea typeface="맑은 고딕"/>
              </a:rPr>
              <a:t>회마다 스탬프 </a:t>
            </a:r>
            <a:r>
              <a:rPr lang="en-US" altLang="ko-KR" sz="2000" dirty="0">
                <a:ea typeface="맑은 고딕"/>
              </a:rPr>
              <a:t>1</a:t>
            </a:r>
            <a:r>
              <a:rPr lang="ko-KR" altLang="en-US" sz="2000" dirty="0">
                <a:ea typeface="맑은 고딕"/>
              </a:rPr>
              <a:t>개 지급</a:t>
            </a:r>
            <a:endParaRPr lang="en-US" altLang="ko-KR" sz="2000" dirty="0"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  <a:ea typeface="맑은 고딕"/>
              </a:rPr>
              <a:t> - 5</a:t>
            </a:r>
            <a:r>
              <a:rPr lang="ko-KR" altLang="en-US" sz="2000" dirty="0">
                <a:latin typeface="+mj-lt"/>
                <a:ea typeface="맑은 고딕"/>
              </a:rPr>
              <a:t>회 달성 시 추가 포인트 적립</a:t>
            </a:r>
            <a:endParaRPr lang="en-US" altLang="ko-KR" sz="2000" dirty="0">
              <a:latin typeface="+mj-lt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EAB8BD-A3D5-6DCC-478A-18D13245CDC2}"/>
              </a:ext>
            </a:extLst>
          </p:cNvPr>
          <p:cNvSpPr txBox="1"/>
          <p:nvPr/>
        </p:nvSpPr>
        <p:spPr>
          <a:xfrm>
            <a:off x="747130" y="623962"/>
            <a:ext cx="1069773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07. 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프로젝트 구현 </a:t>
            </a:r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– 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스탬프 포인트 적립</a:t>
            </a:r>
            <a:endParaRPr lang="ko-KR" sz="44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0526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FF2EE-1B65-5724-9235-A606288D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632F91-5EAD-F1C9-4AAE-C9310A6A0D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813" y="1652178"/>
            <a:ext cx="2047331" cy="458186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5273" y="2576519"/>
            <a:ext cx="3146425" cy="36575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539D3A-8F71-D3CA-5B67-BAFC55C2FC3C}"/>
              </a:ext>
            </a:extLst>
          </p:cNvPr>
          <p:cNvSpPr txBox="1"/>
          <p:nvPr/>
        </p:nvSpPr>
        <p:spPr>
          <a:xfrm>
            <a:off x="1531709" y="2033847"/>
            <a:ext cx="4489449" cy="39241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300" b="1" dirty="0">
                <a:latin typeface="+mj-lt"/>
                <a:ea typeface="맑은 고딕"/>
              </a:rPr>
              <a:t>신청 대상 </a:t>
            </a:r>
            <a:endParaRPr lang="en-US" altLang="ko-KR" sz="2300" b="1" dirty="0">
              <a:latin typeface="+mj-lt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+mj-lt"/>
                <a:ea typeface="맑은 고딕"/>
              </a:rPr>
              <a:t> </a:t>
            </a:r>
            <a:r>
              <a:rPr lang="en-US" altLang="ko-KR" sz="2000" dirty="0">
                <a:latin typeface="+mj-lt"/>
                <a:ea typeface="맑은 고딕"/>
              </a:rPr>
              <a:t>- </a:t>
            </a:r>
            <a:r>
              <a:rPr lang="ko-KR" altLang="en-US" sz="2000" dirty="0" err="1">
                <a:latin typeface="+mj-lt"/>
                <a:ea typeface="맑은 고딕"/>
              </a:rPr>
              <a:t>빵지순례와</a:t>
            </a:r>
            <a:r>
              <a:rPr lang="ko-KR" altLang="en-US" sz="2000" dirty="0">
                <a:latin typeface="+mj-lt"/>
                <a:ea typeface="맑은 고딕"/>
              </a:rPr>
              <a:t> 제휴를 원하는</a:t>
            </a:r>
            <a:endParaRPr lang="en-US" altLang="ko-KR" sz="2000" dirty="0">
              <a:latin typeface="+mj-lt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  <a:ea typeface="맑은 고딕"/>
              </a:rPr>
              <a:t>   </a:t>
            </a:r>
            <a:r>
              <a:rPr lang="ko-KR" altLang="en-US" sz="2000" dirty="0">
                <a:latin typeface="+mj-lt"/>
                <a:ea typeface="맑은 고딕"/>
              </a:rPr>
              <a:t>지역 소상공인 베이커리</a:t>
            </a:r>
            <a:r>
              <a:rPr lang="en-US" altLang="ko-KR" sz="2000" dirty="0">
                <a:latin typeface="+mj-lt"/>
                <a:ea typeface="맑은 고딕"/>
              </a:rPr>
              <a:t>/</a:t>
            </a:r>
            <a:r>
              <a:rPr lang="ko-KR" altLang="en-US" sz="2000" dirty="0">
                <a:latin typeface="+mj-lt"/>
                <a:ea typeface="맑은 고딕"/>
              </a:rPr>
              <a:t>카페 등</a:t>
            </a:r>
            <a:endParaRPr lang="en-US" altLang="ko-KR" sz="2000" dirty="0">
              <a:latin typeface="+mj-lt"/>
              <a:ea typeface="맑은 고딕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latin typeface="+mj-lt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2300" b="1" dirty="0">
                <a:ea typeface="맑은 고딕"/>
              </a:rPr>
              <a:t>목적</a:t>
            </a:r>
            <a:r>
              <a:rPr lang="ko-KR" altLang="en-US" sz="2000" b="1" dirty="0">
                <a:ea typeface="맑은 고딕"/>
              </a:rPr>
              <a:t> </a:t>
            </a:r>
            <a:endParaRPr lang="en-US" altLang="ko-KR" sz="2000" b="1" dirty="0"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ea typeface="맑은 고딕"/>
              </a:rPr>
              <a:t> </a:t>
            </a:r>
            <a:r>
              <a:rPr lang="en-US" altLang="ko-KR" sz="2000" dirty="0">
                <a:ea typeface="맑은 고딕"/>
              </a:rPr>
              <a:t>- </a:t>
            </a:r>
            <a:r>
              <a:rPr lang="ko-KR" altLang="en-US" sz="2000" dirty="0">
                <a:ea typeface="맑은 고딕"/>
              </a:rPr>
              <a:t>소상공인의 신규 고객 유입</a:t>
            </a:r>
            <a:r>
              <a:rPr lang="en-US" altLang="ko-KR" sz="2000" dirty="0">
                <a:ea typeface="맑은 고딕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  <a:ea typeface="맑은 고딕"/>
              </a:rPr>
              <a:t>   </a:t>
            </a:r>
            <a:r>
              <a:rPr lang="ko-KR" altLang="en-US" sz="2000" dirty="0">
                <a:latin typeface="+mj-lt"/>
                <a:ea typeface="맑은 고딕"/>
              </a:rPr>
              <a:t>다양한 이벤트</a:t>
            </a:r>
            <a:r>
              <a:rPr lang="en-US" altLang="ko-KR" sz="2000" dirty="0">
                <a:latin typeface="+mj-lt"/>
                <a:ea typeface="맑은 고딕"/>
              </a:rPr>
              <a:t>/</a:t>
            </a:r>
            <a:r>
              <a:rPr lang="ko-KR" altLang="en-US" sz="2000" dirty="0">
                <a:latin typeface="+mj-lt"/>
                <a:ea typeface="맑은 고딕"/>
              </a:rPr>
              <a:t>프로모션 제공</a:t>
            </a:r>
            <a:r>
              <a:rPr lang="en-US" altLang="ko-KR" sz="2000" dirty="0">
                <a:latin typeface="+mj-lt"/>
                <a:ea typeface="맑은 고딕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  <a:ea typeface="맑은 고딕"/>
              </a:rPr>
              <a:t>   </a:t>
            </a:r>
            <a:r>
              <a:rPr lang="ko-KR" altLang="en-US" sz="2000" dirty="0">
                <a:latin typeface="+mj-lt"/>
                <a:ea typeface="맑은 고딕"/>
              </a:rPr>
              <a:t>앱 내 상점 노출 기회 확대</a:t>
            </a:r>
            <a:endParaRPr lang="en-US" altLang="ko-KR" sz="2000" dirty="0">
              <a:latin typeface="+mj-lt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F988F1-9056-109F-28FA-1DACEA1A57DD}"/>
              </a:ext>
            </a:extLst>
          </p:cNvPr>
          <p:cNvSpPr txBox="1"/>
          <p:nvPr/>
        </p:nvSpPr>
        <p:spPr>
          <a:xfrm>
            <a:off x="747130" y="623962"/>
            <a:ext cx="1069773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07. 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프로젝트 구현 </a:t>
            </a:r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– 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소상공인 신청</a:t>
            </a:r>
            <a:endParaRPr lang="ko-KR" sz="44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1133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FF2EE-1B65-5724-9235-A606288D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632F91-5EAD-F1C9-4AAE-C9310A6A0D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C9CA76-2152-5D0B-676C-9168788C0416}"/>
              </a:ext>
            </a:extLst>
          </p:cNvPr>
          <p:cNvSpPr txBox="1"/>
          <p:nvPr/>
        </p:nvSpPr>
        <p:spPr>
          <a:xfrm>
            <a:off x="747130" y="623962"/>
            <a:ext cx="1069773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08. </a:t>
            </a:r>
            <a:r>
              <a:rPr lang="ko-KR" altLang="en-US" sz="4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추후 보안 사항</a:t>
            </a:r>
            <a:endParaRPr lang="ko-KR" sz="44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B5162ED-4EF6-F786-E9BB-427C42F37463}"/>
              </a:ext>
            </a:extLst>
          </p:cNvPr>
          <p:cNvGrpSpPr/>
          <p:nvPr/>
        </p:nvGrpSpPr>
        <p:grpSpPr>
          <a:xfrm>
            <a:off x="1681531" y="2441651"/>
            <a:ext cx="8828933" cy="3108543"/>
            <a:chOff x="1679410" y="2441651"/>
            <a:chExt cx="8828933" cy="310854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D3F54F-5EED-987D-FBDE-A1858A9EA05A}"/>
                </a:ext>
              </a:extLst>
            </p:cNvPr>
            <p:cNvSpPr txBox="1"/>
            <p:nvPr/>
          </p:nvSpPr>
          <p:spPr>
            <a:xfrm>
              <a:off x="2174648" y="2441651"/>
              <a:ext cx="8333695" cy="3108543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2800" b="1" dirty="0">
                  <a:ea typeface="맑은 고딕"/>
                </a:rPr>
                <a:t>알림 기능 활성화</a:t>
              </a:r>
              <a:endParaRPr lang="en-US" altLang="ko-KR" sz="2800" b="1" dirty="0">
                <a:ea typeface="맑은 고딕"/>
              </a:endParaRPr>
            </a:p>
            <a:p>
              <a:pPr marL="342900" indent="-342900">
                <a:buAutoNum type="arabicPeriod"/>
              </a:pPr>
              <a:endParaRPr lang="en-US" altLang="ko-KR" sz="2800" b="1" dirty="0">
                <a:ea typeface="맑은 고딕"/>
              </a:endParaRPr>
            </a:p>
            <a:p>
              <a:r>
                <a:rPr lang="ko-KR" altLang="en-US" sz="2800" b="1" dirty="0">
                  <a:ea typeface="맑은 고딕"/>
                </a:rPr>
                <a:t>한 가맹점 스탬프 중복 제거 </a:t>
              </a:r>
              <a:endParaRPr lang="en-US" altLang="ko-KR" sz="2800" b="1" dirty="0">
                <a:ea typeface="맑은 고딕"/>
              </a:endParaRPr>
            </a:p>
            <a:p>
              <a:pPr marL="342900" indent="-342900">
                <a:buAutoNum type="arabicPeriod"/>
              </a:pPr>
              <a:endParaRPr lang="en-US" altLang="ko-KR" sz="2800" b="1" dirty="0">
                <a:ea typeface="맑은 고딕"/>
              </a:endParaRPr>
            </a:p>
            <a:p>
              <a:r>
                <a:rPr lang="ko-KR" altLang="en-US" sz="2800" b="1" dirty="0">
                  <a:ea typeface="맑은 고딕"/>
                </a:rPr>
                <a:t>리뷰 수정 및 상세보기 </a:t>
              </a:r>
              <a:endParaRPr lang="en-US" altLang="ko-KR" sz="2800" b="1" dirty="0">
                <a:ea typeface="맑은 고딕"/>
              </a:endParaRPr>
            </a:p>
            <a:p>
              <a:pPr marL="342900" indent="-342900">
                <a:buAutoNum type="arabicPeriod"/>
              </a:pPr>
              <a:endParaRPr lang="en-US" altLang="ko-KR" sz="2800" b="1" dirty="0">
                <a:ea typeface="맑은 고딕"/>
              </a:endParaRPr>
            </a:p>
            <a:p>
              <a:r>
                <a:rPr lang="ko-KR" altLang="en-US" sz="2800" b="1" dirty="0">
                  <a:ea typeface="맑은 고딕"/>
                </a:rPr>
                <a:t>디자인 개선</a:t>
              </a:r>
              <a:endParaRPr lang="en-US" altLang="ko-KR" sz="2800" b="1" dirty="0">
                <a:ea typeface="맑은 고딕"/>
              </a:endParaRPr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155494B-3F0D-BEC5-F06C-E436B1B2E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9410" y="2441651"/>
              <a:ext cx="495238" cy="520635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625BF18-887A-A867-4653-6685F3E4E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9410" y="3299252"/>
              <a:ext cx="495238" cy="520635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050440E-A5C8-0991-BD9C-771168AF4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9410" y="4160836"/>
              <a:ext cx="495238" cy="520635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C6A6336-2CB4-7BA3-FC7A-5AFE2D334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9410" y="4959791"/>
              <a:ext cx="495238" cy="5206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17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5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E6A851-4ED0-C097-AD5B-C404E9DD3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5A4A2A5-465A-0106-43F3-BB0CFAEE5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12" y="259556"/>
            <a:ext cx="11458575" cy="6338887"/>
          </a:xfrm>
          <a:prstGeom prst="rect">
            <a:avLst/>
          </a:prstGeom>
          <a:solidFill>
            <a:srgbClr val="F6F1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3F4248-F243-AFD9-DA6A-827BAB27BAB0}"/>
              </a:ext>
            </a:extLst>
          </p:cNvPr>
          <p:cNvSpPr txBox="1"/>
          <p:nvPr/>
        </p:nvSpPr>
        <p:spPr>
          <a:xfrm>
            <a:off x="3170251" y="2613391"/>
            <a:ext cx="5851496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00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시연</a:t>
            </a:r>
            <a:endParaRPr lang="ko-KR" sz="100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742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DFBF1-D314-1C1A-E94B-FEA0E3C48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그룹 39">
            <a:extLst>
              <a:ext uri="{FF2B5EF4-FFF2-40B4-BE49-F238E27FC236}">
                <a16:creationId xmlns:a16="http://schemas.microsoft.com/office/drawing/2014/main" id="{0B3D19AA-E493-51B1-6E76-6318AA6220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DE229E1-4DBD-35E8-0180-6A17A749324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0" y="6595207"/>
              <a:ext cx="12192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D07CDA27-DBAE-2F9D-378A-B2C08D8C81B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0" y="262793"/>
              <a:ext cx="12192000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99E98DE9-B038-10DB-78DB-1B096178C70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69764" y="0"/>
              <a:ext cx="0" cy="685800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3DBE9115-EDC2-C406-19AD-2F33BCD53F3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1829075" y="0"/>
              <a:ext cx="0" cy="6858000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A4E7B5-FA2F-8D4F-5857-8D59059F484A}"/>
              </a:ext>
            </a:extLst>
          </p:cNvPr>
          <p:cNvGrpSpPr/>
          <p:nvPr/>
        </p:nvGrpSpPr>
        <p:grpSpPr>
          <a:xfrm>
            <a:off x="6744455" y="1673588"/>
            <a:ext cx="3510722" cy="4432301"/>
            <a:chOff x="8073265" y="1638300"/>
            <a:chExt cx="3510722" cy="443230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2CF5DA3-2DA9-038F-510F-1C176D605460}"/>
                </a:ext>
              </a:extLst>
            </p:cNvPr>
            <p:cNvSpPr txBox="1"/>
            <p:nvPr/>
          </p:nvSpPr>
          <p:spPr>
            <a:xfrm>
              <a:off x="8955271" y="1816126"/>
              <a:ext cx="2384677" cy="4770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2500" b="1" dirty="0" err="1">
                  <a:latin typeface="Malgun Gothic"/>
                  <a:ea typeface="Malgun Gothic"/>
                </a:rPr>
                <a:t>박미연</a:t>
              </a:r>
              <a:r>
                <a:rPr lang="ko-KR" altLang="en-US" b="1" dirty="0">
                  <a:latin typeface="Malgun Gothic"/>
                  <a:ea typeface="Malgun Gothic"/>
                </a:rPr>
                <a:t> 팀원</a:t>
              </a:r>
            </a:p>
          </p:txBody>
        </p:sp>
        <p:sp>
          <p:nvSpPr>
            <p:cNvPr id="4" name="모서리가 둥근 직사각형 22">
              <a:extLst>
                <a:ext uri="{FF2B5EF4-FFF2-40B4-BE49-F238E27FC236}">
                  <a16:creationId xmlns:a16="http://schemas.microsoft.com/office/drawing/2014/main" id="{900D7678-883B-68D0-8C25-40230B1BFDA0}"/>
                </a:ext>
              </a:extLst>
            </p:cNvPr>
            <p:cNvSpPr/>
            <p:nvPr/>
          </p:nvSpPr>
          <p:spPr>
            <a:xfrm>
              <a:off x="8073265" y="1638300"/>
              <a:ext cx="3510722" cy="4432301"/>
            </a:xfrm>
            <a:prstGeom prst="roundRect">
              <a:avLst/>
            </a:prstGeom>
            <a:noFill/>
            <a:ln w="76200">
              <a:solidFill>
                <a:srgbClr val="BA8F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495597C-B851-A606-5A7A-BD2234B832CA}"/>
                </a:ext>
              </a:extLst>
            </p:cNvPr>
            <p:cNvSpPr txBox="1"/>
            <p:nvPr/>
          </p:nvSpPr>
          <p:spPr>
            <a:xfrm>
              <a:off x="8356222" y="2471006"/>
              <a:ext cx="2983726" cy="332398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1500" dirty="0" err="1"/>
                <a:t>빵지순례</a:t>
              </a:r>
              <a:r>
                <a:rPr lang="ko-KR" altLang="en-US" sz="1500" dirty="0"/>
                <a:t> 앱을 개발하며 </a:t>
              </a:r>
              <a:r>
                <a:rPr lang="en-US" altLang="ko-KR" sz="1500" dirty="0"/>
                <a:t>GPS </a:t>
              </a:r>
              <a:r>
                <a:rPr lang="ko-KR" altLang="en-US" sz="1500" dirty="0"/>
                <a:t>인증과 스탬프 투어 기능을 결합하는 과정이 매우 의미 있었던 경험이었습니다</a:t>
              </a:r>
              <a:r>
                <a:rPr lang="en-US" altLang="ko-KR" sz="1500" dirty="0"/>
                <a:t>. </a:t>
              </a:r>
            </a:p>
            <a:p>
              <a:endParaRPr lang="en-US" altLang="ko-KR" sz="1500" dirty="0"/>
            </a:p>
            <a:p>
              <a:r>
                <a:rPr lang="ko-KR" altLang="en-US" sz="1500" dirty="0"/>
                <a:t>기획부터 개발</a:t>
              </a:r>
              <a:r>
                <a:rPr lang="en-US" altLang="ko-KR" sz="1500" dirty="0"/>
                <a:t>, </a:t>
              </a:r>
              <a:r>
                <a:rPr lang="ko-KR" altLang="en-US" sz="1500" dirty="0"/>
                <a:t>디자인</a:t>
              </a:r>
              <a:r>
                <a:rPr lang="en-US" altLang="ko-KR" sz="1500" dirty="0"/>
                <a:t>, </a:t>
              </a:r>
              <a:r>
                <a:rPr lang="ko-KR" altLang="en-US" sz="1500" dirty="0"/>
                <a:t>사용자 경험까지 직접 고민하고 도전하는 과정에서 많은 것을 배우고 스스로 부족함도 느꼈습니다</a:t>
              </a:r>
              <a:r>
                <a:rPr lang="en-US" altLang="ko-KR" sz="1500" dirty="0"/>
                <a:t>.</a:t>
              </a:r>
            </a:p>
            <a:p>
              <a:br>
                <a:rPr lang="ko-KR" altLang="en-US" sz="1500" dirty="0"/>
              </a:br>
              <a:r>
                <a:rPr lang="ko-KR" altLang="en-US" sz="1500" dirty="0"/>
                <a:t>이번 경험을 통해 앞으로 더 나은 서비스와 편리한 기능을 제공하기 위해 꾸준한 노력이 필요함을 다시 한번 깨달았습니다</a:t>
              </a:r>
              <a:r>
                <a:rPr lang="en-US" altLang="ko-KR" sz="1500" dirty="0"/>
                <a:t>.</a:t>
              </a:r>
              <a:endParaRPr lang="ko-KR" altLang="en-US" sz="1500" dirty="0">
                <a:latin typeface="Malgun Gothic"/>
                <a:ea typeface="Malgun Gothic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C4869C2C-9F7F-3C48-FA8B-4C1794A7A077}"/>
              </a:ext>
            </a:extLst>
          </p:cNvPr>
          <p:cNvGrpSpPr/>
          <p:nvPr/>
        </p:nvGrpSpPr>
        <p:grpSpPr>
          <a:xfrm>
            <a:off x="1936823" y="1673587"/>
            <a:ext cx="3510722" cy="4432301"/>
            <a:chOff x="616226" y="1638300"/>
            <a:chExt cx="3510722" cy="4432301"/>
          </a:xfrm>
        </p:grpSpPr>
        <p:sp>
          <p:nvSpPr>
            <p:cNvPr id="8" name="모서리가 둥근 직사각형 17">
              <a:extLst>
                <a:ext uri="{FF2B5EF4-FFF2-40B4-BE49-F238E27FC236}">
                  <a16:creationId xmlns:a16="http://schemas.microsoft.com/office/drawing/2014/main" id="{24D6A90D-5475-1ACD-72FB-B5CDC24BA6DE}"/>
                </a:ext>
              </a:extLst>
            </p:cNvPr>
            <p:cNvSpPr/>
            <p:nvPr/>
          </p:nvSpPr>
          <p:spPr>
            <a:xfrm>
              <a:off x="616226" y="1638300"/>
              <a:ext cx="3510722" cy="4432301"/>
            </a:xfrm>
            <a:prstGeom prst="roundRect">
              <a:avLst/>
            </a:prstGeom>
            <a:noFill/>
            <a:ln w="76200">
              <a:solidFill>
                <a:srgbClr val="BA8F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994F462-C494-93F5-C5EE-0A225F7DB766}"/>
                </a:ext>
              </a:extLst>
            </p:cNvPr>
            <p:cNvSpPr txBox="1"/>
            <p:nvPr/>
          </p:nvSpPr>
          <p:spPr>
            <a:xfrm>
              <a:off x="1498232" y="1816126"/>
              <a:ext cx="2384677" cy="50148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2500" b="1" dirty="0" err="1">
                  <a:latin typeface="Malgun Gothic"/>
                  <a:ea typeface="Malgun Gothic"/>
                </a:rPr>
                <a:t>오호준</a:t>
              </a:r>
              <a:r>
                <a:rPr lang="ko-KR" altLang="en-US" b="1" dirty="0">
                  <a:latin typeface="Malgun Gothic"/>
                  <a:ea typeface="Malgun Gothic"/>
                </a:rPr>
                <a:t> 팀장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93A4D0-E78B-9838-AF61-7775EF7F560B}"/>
                </a:ext>
              </a:extLst>
            </p:cNvPr>
            <p:cNvSpPr txBox="1"/>
            <p:nvPr/>
          </p:nvSpPr>
          <p:spPr>
            <a:xfrm>
              <a:off x="848140" y="2466519"/>
              <a:ext cx="3034770" cy="30931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dirty="0"/>
                <a:t>프로젝트 제작에 있어 더 꼼꼼히 기획을 하고 개발을 하고 싶다는 생각과 다르게 정해진 기간에 많은 기능을 추가하고 개발을 하다 보니 시간의 부족함을 느꼈지만 팀원분들과 함께 협력하여 잘 마무리 할 수 있었습니다</a:t>
              </a:r>
              <a:r>
                <a:rPr lang="en-US" altLang="ko-KR" sz="1500" dirty="0"/>
                <a:t>.</a:t>
              </a:r>
            </a:p>
            <a:p>
              <a:endParaRPr lang="en-US" altLang="ko-KR" sz="1500" dirty="0"/>
            </a:p>
            <a:p>
              <a:r>
                <a:rPr lang="ko-KR" altLang="en-US" sz="1500" dirty="0"/>
                <a:t>이번 프로젝트에서 부족했던 부분의 경험을 보안하여 향후에는 더 좋은 개발을 할 수 있다고 생각하며 값진 경험을 했다고 생각합니다</a:t>
              </a:r>
              <a:r>
                <a:rPr lang="en-US" altLang="ko-KR" sz="1500" dirty="0"/>
                <a:t>.</a:t>
              </a:r>
              <a:endParaRPr lang="ko-KR" altLang="en-US" sz="15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8907A13-DCD1-99C2-CCEC-72D5BB988C46}"/>
              </a:ext>
            </a:extLst>
          </p:cNvPr>
          <p:cNvSpPr txBox="1"/>
          <p:nvPr/>
        </p:nvSpPr>
        <p:spPr>
          <a:xfrm>
            <a:off x="3170252" y="406862"/>
            <a:ext cx="585149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54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자체평가 및 소감</a:t>
            </a:r>
            <a:endParaRPr lang="ko-KR" sz="54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6367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EAE4E-E189-5F01-ABC5-8F9464F6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그룹 39">
            <a:extLst>
              <a:ext uri="{FF2B5EF4-FFF2-40B4-BE49-F238E27FC236}">
                <a16:creationId xmlns:a16="http://schemas.microsoft.com/office/drawing/2014/main" id="{574FC361-7BBF-C9D3-9B54-E0A5C3522B1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C176025E-F066-69EE-511C-0C5D559226E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0" y="6595207"/>
              <a:ext cx="12192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43C07577-8503-30DD-5461-151F9B5E92A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0" y="262793"/>
              <a:ext cx="12192000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44A03931-44A7-6B02-97E8-1FBE5DFA7FE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69764" y="0"/>
              <a:ext cx="0" cy="685800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CD21F40A-8290-3B07-DA65-DA211A92750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1829075" y="0"/>
              <a:ext cx="0" cy="6858000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F6DF89F-0B8B-94D8-8FBB-57DA82FC8D66}"/>
              </a:ext>
            </a:extLst>
          </p:cNvPr>
          <p:cNvSpPr txBox="1"/>
          <p:nvPr/>
        </p:nvSpPr>
        <p:spPr>
          <a:xfrm>
            <a:off x="3170252" y="2613392"/>
            <a:ext cx="5851496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0000" b="1" dirty="0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Q &amp; A</a:t>
            </a:r>
            <a:endParaRPr lang="ko-KR" sz="100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5422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112B0-7495-BBD5-E021-56A82EB02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그룹 39">
            <a:extLst>
              <a:ext uri="{FF2B5EF4-FFF2-40B4-BE49-F238E27FC236}">
                <a16:creationId xmlns:a16="http://schemas.microsoft.com/office/drawing/2014/main" id="{724836E4-EE9C-CFB0-7C9A-05AA5B2A3FC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B679DC1E-17B7-8DCB-8FF3-02A61B0CD10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0" y="6595207"/>
              <a:ext cx="12192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A082670A-3066-492E-397A-4FB2AE443A5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0" y="262793"/>
              <a:ext cx="12192000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6D74C5CB-BA93-ADC1-F347-783E6BA52A4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69764" y="0"/>
              <a:ext cx="0" cy="685800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91853FEA-F8B2-A191-07C6-7132B5103F3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1829075" y="0"/>
              <a:ext cx="0" cy="6858000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86786A3-AEAF-F1F6-5987-138B398E1C61}"/>
              </a:ext>
            </a:extLst>
          </p:cNvPr>
          <p:cNvSpPr txBox="1"/>
          <p:nvPr/>
        </p:nvSpPr>
        <p:spPr>
          <a:xfrm>
            <a:off x="2873870" y="2613392"/>
            <a:ext cx="6444259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0000" b="1">
                <a:solidFill>
                  <a:srgbClr val="5D3525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감사합니다</a:t>
            </a:r>
            <a:endParaRPr lang="ko-KR" sz="10000" b="1" dirty="0">
              <a:solidFill>
                <a:srgbClr val="5D3525"/>
              </a:solidFill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590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964</Words>
  <Application>Microsoft Office PowerPoint</Application>
  <PresentationFormat>와이드스크린</PresentationFormat>
  <Paragraphs>251</Paragraphs>
  <Slides>34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0" baseType="lpstr">
      <vt:lpstr>HY목각파임B</vt:lpstr>
      <vt:lpstr>맑은 고딕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>오호준</cp:lastModifiedBy>
  <cp:revision>835</cp:revision>
  <dcterms:created xsi:type="dcterms:W3CDTF">2025-07-02T04:53:40Z</dcterms:created>
  <dcterms:modified xsi:type="dcterms:W3CDTF">2026-10-15T08:12:30Z</dcterms:modified>
</cp:coreProperties>
</file>